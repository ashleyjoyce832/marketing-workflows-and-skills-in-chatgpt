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a861a6177f4689" /><Relationship Type="http://schemas.openxmlformats.org/officeDocument/2006/relationships/extended-properties" Target="/docProps/app.xml" Id="Rb641de491e2e4bdf" /><Relationship Type="http://schemas.openxmlformats.org/officeDocument/2006/relationships/officeDocument" Target="/ppt/presentation.xml" Id="R0f31ce2d49df46a2" /></Relationships>
</file>

<file path=ppt/presentation.xml><?xml version="1.0" encoding="utf-8"?>
<p:presentation xmlns:p="http://schemas.openxmlformats.org/presentationml/2006/main">
  <p:sldMasterIdLst>
    <p:sldMasterId xmlns:r="http://schemas.openxmlformats.org/officeDocument/2006/relationships" id="2147483648" r:id="Rad8960a1953f4e91"/>
  </p:sldMasterIdLst>
  <p:notesMasterIdLst>
    <p:notesMasterId xmlns:r="http://schemas.openxmlformats.org/officeDocument/2006/relationships" r:id="R6bf7bd27fd4b4782"/>
  </p:notesMasterIdLst>
  <p:sldIdLst>
    <p:sldId xmlns:r="http://schemas.openxmlformats.org/officeDocument/2006/relationships" id="256" r:id="R9cd3ac27add248ad"/>
    <p:sldId xmlns:r="http://schemas.openxmlformats.org/officeDocument/2006/relationships" id="257" r:id="Rd9c97e97dcd644a3"/>
    <p:sldId xmlns:r="http://schemas.openxmlformats.org/officeDocument/2006/relationships" id="258" r:id="R09945083ff2040d3"/>
    <p:sldId xmlns:r="http://schemas.openxmlformats.org/officeDocument/2006/relationships" id="259" r:id="R2fa60d5616fb4d12"/>
    <p:sldId xmlns:r="http://schemas.openxmlformats.org/officeDocument/2006/relationships" id="260" r:id="Ra29300ad89974c43"/>
    <p:sldId xmlns:r="http://schemas.openxmlformats.org/officeDocument/2006/relationships" id="261" r:id="R4ed51e529cf94313"/>
    <p:sldId xmlns:r="http://schemas.openxmlformats.org/officeDocument/2006/relationships" id="262" r:id="R7a00a11e0e164ee4"/>
    <p:sldId xmlns:r="http://schemas.openxmlformats.org/officeDocument/2006/relationships" id="263" r:id="Rab7f7f69dfd444e1"/>
    <p:sldId xmlns:r="http://schemas.openxmlformats.org/officeDocument/2006/relationships" id="264" r:id="Rb611ca6f37e142d5"/>
    <p:sldId xmlns:r="http://schemas.openxmlformats.org/officeDocument/2006/relationships" id="265" r:id="R4fee3101446341cd"/>
    <p:sldId xmlns:r="http://schemas.openxmlformats.org/officeDocument/2006/relationships" id="266" r:id="Ra4f719d59c4e4b1f"/>
    <p:sldId xmlns:r="http://schemas.openxmlformats.org/officeDocument/2006/relationships" id="267" r:id="R0d0a40de3fca4bf3"/>
    <p:sldId xmlns:r="http://schemas.openxmlformats.org/officeDocument/2006/relationships" id="268" r:id="Rfe022edb6394434f"/>
    <p:sldId xmlns:r="http://schemas.openxmlformats.org/officeDocument/2006/relationships" id="269" r:id="R60b01329cbcc4e5b"/>
    <p:sldId xmlns:r="http://schemas.openxmlformats.org/officeDocument/2006/relationships" id="270" r:id="R7050df7c8fcc455f"/>
    <p:sldId xmlns:r="http://schemas.openxmlformats.org/officeDocument/2006/relationships" id="271" r:id="Raffbaeda184d4451"/>
    <p:sldId xmlns:r="http://schemas.openxmlformats.org/officeDocument/2006/relationships" id="272" r:id="R8599d66982ad4ac6"/>
    <p:sldId xmlns:r="http://schemas.openxmlformats.org/officeDocument/2006/relationships" id="273" r:id="Rb025a8cce2ba4f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51da4a8a794ace" /><Relationship Type="http://schemas.openxmlformats.org/officeDocument/2006/relationships/slideMaster" Target="/ppt/slideMasters/slideMaster1.xml" Id="Rad8960a1953f4e91" /><Relationship Type="http://schemas.openxmlformats.org/officeDocument/2006/relationships/notesMaster" Target="/ppt/notesMasters/notesMaster1.xml" Id="R6bf7bd27fd4b4782" /><Relationship Type="http://schemas.openxmlformats.org/officeDocument/2006/relationships/presProps" Target="/ppt/presProps.xml" Id="R86b4547befbf481f" /><Relationship Type="http://schemas.openxmlformats.org/officeDocument/2006/relationships/tableStyles" Target="/ppt/tableStyles.xml" Id="R4161862efb214b4d" /><Relationship Type="http://schemas.openxmlformats.org/officeDocument/2006/relationships/slide" Target="/ppt/slides/slide1.xml" Id="R9cd3ac27add248ad" /><Relationship Type="http://schemas.openxmlformats.org/officeDocument/2006/relationships/slide" Target="/ppt/slides/slide2.xml" Id="Rd9c97e97dcd644a3" /><Relationship Type="http://schemas.openxmlformats.org/officeDocument/2006/relationships/slide" Target="/ppt/slides/slide3.xml" Id="R09945083ff2040d3" /><Relationship Type="http://schemas.openxmlformats.org/officeDocument/2006/relationships/slide" Target="/ppt/slides/slide4.xml" Id="R2fa60d5616fb4d12" /><Relationship Type="http://schemas.openxmlformats.org/officeDocument/2006/relationships/slide" Target="/ppt/slides/slide5.xml" Id="Ra29300ad89974c43" /><Relationship Type="http://schemas.openxmlformats.org/officeDocument/2006/relationships/slide" Target="/ppt/slides/slide6.xml" Id="R4ed51e529cf94313" /><Relationship Type="http://schemas.openxmlformats.org/officeDocument/2006/relationships/slide" Target="/ppt/slides/slide7.xml" Id="R7a00a11e0e164ee4" /><Relationship Type="http://schemas.openxmlformats.org/officeDocument/2006/relationships/slide" Target="/ppt/slides/slide8.xml" Id="Rab7f7f69dfd444e1" /><Relationship Type="http://schemas.openxmlformats.org/officeDocument/2006/relationships/slide" Target="/ppt/slides/slide9.xml" Id="Rb611ca6f37e142d5" /><Relationship Type="http://schemas.openxmlformats.org/officeDocument/2006/relationships/slide" Target="/ppt/slides/slide10.xml" Id="R4fee3101446341cd" /><Relationship Type="http://schemas.openxmlformats.org/officeDocument/2006/relationships/slide" Target="/ppt/slides/slide11.xml" Id="Ra4f719d59c4e4b1f" /><Relationship Type="http://schemas.openxmlformats.org/officeDocument/2006/relationships/slide" Target="/ppt/slides/slide12.xml" Id="R0d0a40de3fca4bf3" /><Relationship Type="http://schemas.openxmlformats.org/officeDocument/2006/relationships/slide" Target="/ppt/slides/slide13.xml" Id="Rfe022edb6394434f" /><Relationship Type="http://schemas.openxmlformats.org/officeDocument/2006/relationships/slide" Target="/ppt/slides/slide14.xml" Id="R60b01329cbcc4e5b" /><Relationship Type="http://schemas.openxmlformats.org/officeDocument/2006/relationships/slide" Target="/ppt/slides/slide15.xml" Id="R7050df7c8fcc455f" /><Relationship Type="http://schemas.openxmlformats.org/officeDocument/2006/relationships/slide" Target="/ppt/slides/slide16.xml" Id="Raffbaeda184d4451" /><Relationship Type="http://schemas.openxmlformats.org/officeDocument/2006/relationships/slide" Target="/ppt/slides/slide17.xml" Id="R8599d66982ad4ac6" /><Relationship Type="http://schemas.openxmlformats.org/officeDocument/2006/relationships/slide" Target="/ppt/slides/slide18.xml" Id="Rb025a8cce2ba4f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086b19f63d42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078dfb52bc4101" /><Relationship Type="http://schemas.openxmlformats.org/officeDocument/2006/relationships/notesMaster" Target="/ppt/notesMasters/notesMaster1.xml" Id="Rdb7d401c2d4842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47a846cb53473b" /><Relationship Type="http://schemas.openxmlformats.org/officeDocument/2006/relationships/notesMaster" Target="/ppt/notesMasters/notesMaster1.xml" Id="Rdf7155f500034f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df5858a1c44dba" /><Relationship Type="http://schemas.openxmlformats.org/officeDocument/2006/relationships/notesMaster" Target="/ppt/notesMasters/notesMaster1.xml" Id="Rd5d435961ea147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0779ce742747ad" /><Relationship Type="http://schemas.openxmlformats.org/officeDocument/2006/relationships/notesMaster" Target="/ppt/notesMasters/notesMaster1.xml" Id="R01e8ea45f4a44c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afc56e82a3450e" /><Relationship Type="http://schemas.openxmlformats.org/officeDocument/2006/relationships/notesMaster" Target="/ppt/notesMasters/notesMaster1.xml" Id="Rf4a2da3222df42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22cc715c01467c" /><Relationship Type="http://schemas.openxmlformats.org/officeDocument/2006/relationships/notesMaster" Target="/ppt/notesMasters/notesMaster1.xml" Id="R662ae27165d14b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e926b5f9c34279" /><Relationship Type="http://schemas.openxmlformats.org/officeDocument/2006/relationships/notesMaster" Target="/ppt/notesMasters/notesMaster1.xml" Id="R9a7ef2ab9a0d42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5247b7abdf42b6" /><Relationship Type="http://schemas.openxmlformats.org/officeDocument/2006/relationships/notesMaster" Target="/ppt/notesMasters/notesMaster1.xml" Id="R2a410366e2a94a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1bdc8a220a4a49" /><Relationship Type="http://schemas.openxmlformats.org/officeDocument/2006/relationships/notesMaster" Target="/ppt/notesMasters/notesMaster1.xml" Id="R1e845de66f1f4c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d0f66fc7124621" /><Relationship Type="http://schemas.openxmlformats.org/officeDocument/2006/relationships/notesMaster" Target="/ppt/notesMasters/notesMaster1.xml" Id="R4fdab70aea5546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163ac17f5c4e5c" /><Relationship Type="http://schemas.openxmlformats.org/officeDocument/2006/relationships/notesMaster" Target="/ppt/notesMasters/notesMaster1.xml" Id="Re7154572e8914f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6cf691589649b7" /><Relationship Type="http://schemas.openxmlformats.org/officeDocument/2006/relationships/notesMaster" Target="/ppt/notesMasters/notesMaster1.xml" Id="Rb4e76c8760fd4d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62de758d674266" /><Relationship Type="http://schemas.openxmlformats.org/officeDocument/2006/relationships/notesMaster" Target="/ppt/notesMasters/notesMaster1.xml" Id="R5b5b33c5b0c04e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69746c49f8441e" /><Relationship Type="http://schemas.openxmlformats.org/officeDocument/2006/relationships/notesMaster" Target="/ppt/notesMasters/notesMaster1.xml" Id="Rb048d3a317c748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819b1e1fa14b46" /><Relationship Type="http://schemas.openxmlformats.org/officeDocument/2006/relationships/notesMaster" Target="/ppt/notesMasters/notesMaster1.xml" Id="R48aea6036e6f42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4a690325944d55" /><Relationship Type="http://schemas.openxmlformats.org/officeDocument/2006/relationships/notesMaster" Target="/ppt/notesMasters/notesMaster1.xml" Id="R18f1aab3b2ce4b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0359ca3d584100" /><Relationship Type="http://schemas.openxmlformats.org/officeDocument/2006/relationships/notesMaster" Target="/ppt/notesMasters/notesMaster1.xml" Id="R42c9b7b6b92b4a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34366c630941e1" /><Relationship Type="http://schemas.openxmlformats.org/officeDocument/2006/relationships/notesMaster" Target="/ppt/notesMasters/notesMaster1.xml" Id="Refffcc04fdc04a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wanted to explore how ChatGPT could help marketers work more efficiently while keeping human creativity central. I used a hypothetical Werner Bronkhorst wallpaper launch as my case study. What I learned came from the back-and-forth: defining the idea, seeing what the model misunderstood, and turning those corrections into reusable workflow instructions.</a:t>
            </a:r>
          </a:p>
          <a:p xmlns:a="http://schemas.openxmlformats.org/drawingml/2006/main">
            <a:r>
              <a:t/>
            </a:r>
          </a:p>
          <a:p xmlns:a="http://schemas.openxmlformats.org/drawingml/2006/main">
            <a:r>
              <a:t>MAIN TALK. Target speaking time 25 seconds.</a:t>
            </a:r>
          </a:p>
          <a:p xmlns:a="http://schemas.openxmlformats.org/drawingml/2006/main">
            <a:r>
              <a:t>Source: https://openai.com/academy/marketing/</a:t>
            </a:r>
          </a:p>
          <a:p xmlns:a="http://schemas.openxmlformats.org/drawingml/2006/main">
            <a:r>
              <a:t>Visual: assets/collection.png.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began by reading about marketing workflows. Claude helped organize the project, and I developed the original ideas on paper, using questions about my goals and vision. The creativity reading recommends keeping humans responsible for early ideation because AI assistance can make different people’s outputs more similar. My rule for ChatGPT was specific: ask questions and pressure-test my thinking before generating directions. That was my chosen working method. It helped preserve the purpose behind the idea: amplifying artists and human talent.</a:t>
            </a:r>
          </a:p>
          <a:p xmlns:a="http://schemas.openxmlformats.org/drawingml/2006/main">
            <a:r>
              <a:t/>
            </a:r>
          </a:p>
          <a:p xmlns:a="http://schemas.openxmlformats.org/drawingml/2006/main">
            <a:r>
              <a:t>MAIN TALK. Target speaking time 40 seconds.</a:t>
            </a:r>
          </a:p>
          <a:p xmlns:a="http://schemas.openxmlformats.org/drawingml/2006/main">
            <a:r>
              <a:t>Source: Boussioux, Doshi, Hauser &amp; Hosanagar, The Hidden Cost of AI-Assisted Creativity, MIT Sloan Management Review, July 9, 2026, p. 4. Supplied PDF. https://doi.org/10.63383/sXIt9497</a:t>
            </a:r>
          </a:p>
          <a:p xmlns:a="http://schemas.openxmlformats.org/drawingml/2006/main">
            <a:r>
              <a:t>Visual: assets/human-brainstorm.jpg. Author-provided original handwritten brainstorm. Early concepts shown were later superseded.</a:t>
            </a:r>
          </a:p>
          <a:p xmlns:a="http://schemas.openxmlformats.org/drawingml/2006/main">
            <a:r>
              <a:t>Quotation attribution: Boussioux et al., 2026, p. 4.</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first idea grew into a much bigger exhibition and creative event. Through questioning, I narrowed it to one proposed paid hotel collaboration, with consumer wallpaper afterward. The useful challenge was: why would the hotel pay? Social attention alone would not answer that. I had to separate the hotel buyer, the event visitor, and the wallpaper customer. We chose The Fifth Avenue Hotel as a hypothetical prospect. Its interest, the product details, and the economics still need real validation. Times Square belongs to the later wallpaper launch.</a:t>
            </a:r>
          </a:p>
          <a:p xmlns:a="http://schemas.openxmlformats.org/drawingml/2006/main">
            <a:r>
              <a:t/>
            </a:r>
          </a:p>
          <a:p xmlns:a="http://schemas.openxmlformats.org/drawingml/2006/main">
            <a:r>
              <a:t>MAIN TALK. Target speaking time 40 seconds.</a:t>
            </a:r>
          </a:p>
          <a:p xmlns:a="http://schemas.openxmlformats.org/drawingml/2006/main">
            <a:r>
              <a:t>Visual: assets/hotel-concept.png.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concept then became New York Minute: Broadway Backstage, Stories on the Streets, and Five Minutes on Fifth Ave. Visual generation made the idea tangible, but my feedback made it more specific. I pushed for tiny figures, finer paint lines, a green-and-cream Fifth Avenue palette, and settings beyond a bedroom. We tried rooms, ceilings, rolls, and billboard concepts. I could see the direction improving, but we did not measure time saved or commercial performance. A polished image was evidence of a creative iteration, not evidence that customers would buy.</a:t>
            </a:r>
          </a:p>
          <a:p xmlns:a="http://schemas.openxmlformats.org/drawingml/2006/main">
            <a:r>
              <a:t/>
            </a:r>
          </a:p>
          <a:p xmlns:a="http://schemas.openxmlformats.org/drawingml/2006/main">
            <a:r>
              <a:t>MAIN TALK. Target speaking time 40 seconds.</a:t>
            </a:r>
          </a:p>
          <a:p xmlns:a="http://schemas.openxmlformats.org/drawingml/2006/main">
            <a:r>
              <a:t>Visual: assets/product-ad.png.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biggest correction was about native content. The first ads looked polished, but I wanted more of the rhythm in Werner’s actual feed: standalone artwork, close-up texture, and the making process, with a campaign reveal occasionally. I supplied screenshots and asked for that feeling. The revised sequence follows one small painting through a process shot and a Times Square reveal. These are AI-generated proposals. If this campaign went live, the process content would need real footage of the artist making the work, and the partnerships would need agreement.</a:t>
            </a:r>
          </a:p>
          <a:p xmlns:a="http://schemas.openxmlformats.org/drawingml/2006/main">
            <a:r>
              <a:t/>
            </a:r>
          </a:p>
          <a:p xmlns:a="http://schemas.openxmlformats.org/drawingml/2006/main">
            <a:r>
              <a:t>MAIN TALK. Target speaking time 40 seconds.</a:t>
            </a:r>
          </a:p>
          <a:p xmlns:a="http://schemas.openxmlformats.org/drawingml/2006/main">
            <a:r>
              <a:t>Visual: assets/native-posts.png.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skill saves how we want the work done. For example, the ad workflow should inspect my references before writing variations. The concept workflow should preserve my idea, and it should flag generic elements only when they are actually present. My practical tip is to complete a task in chat, correct the output, and then ask ChatGPT to turn the successful process into a SKILL.md. Include the inputs, steps, output format, and quality checks. Then try it on a different brief. Saving a file does not prove the skill works reliably.</a:t>
            </a:r>
          </a:p>
          <a:p xmlns:a="http://schemas.openxmlformats.org/drawingml/2006/main">
            <a:r>
              <a:t/>
            </a:r>
          </a:p>
          <a:p xmlns:a="http://schemas.openxmlformats.org/drawingml/2006/main">
            <a:r>
              <a:t>MAIN TALK. Target speaking time 45 seconds.</a:t>
            </a:r>
          </a:p>
          <a:p xmlns:a="http://schemas.openxmlformats.org/drawingml/2006/main">
            <a:r>
              <a:t>Source: https://openai.com/academy/skills/</a:t>
            </a:r>
          </a:p>
          <a:p xmlns:a="http://schemas.openxmlformats.org/drawingml/2006/main">
            <a:r>
              <a:t>Quotation attribution: OpenAI Academy, Using skills.</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launch, I would use different skills. Channel tracking would separate each source and creative version. An experiment plan would define one change, a primary outcome, and a decision rule before the test. Channel management would check links, availability, approvals, and customer questions. A performance digest would distinguish hotel inquiries from wallpaper orders and social engagement. It would also flag missing data and uncertain results. Synthetic reactions can surface questions, but they cannot validate demand. And a QR scan can show response to a billboard without proving that the billboard caused extra sales.</a:t>
            </a:r>
          </a:p>
          <a:p xmlns:a="http://schemas.openxmlformats.org/drawingml/2006/main">
            <a:r>
              <a:t/>
            </a:r>
          </a:p>
          <a:p xmlns:a="http://schemas.openxmlformats.org/drawingml/2006/main">
            <a:r>
              <a:t>MAIN TALK. Target speaking time 45 seconds.</a:t>
            </a:r>
          </a:p>
          <a:p xmlns:a="http://schemas.openxmlformats.org/drawingml/2006/main">
            <a:r>
              <a:t>Source: https://www.thinkwithgoogle.com/_qs/documents/18403/For_pub_on_TwG___External_Playbook_Modern_Measurement_bmzqiud.pdf</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method is originate, run, and steer. Bring a human idea and real references, use ChatGPT for a specific task, then make the judgment calls. The repository separates workflows we exercised from new skills drafted for launch. A small business could start with one recurring task and a simple review log. The next proof would be better work with less rework, measured over repeated use.</a:t>
            </a:r>
          </a:p>
          <a:p xmlns:a="http://schemas.openxmlformats.org/drawingml/2006/main">
            <a:r>
              <a:t/>
            </a:r>
          </a:p>
          <a:p xmlns:a="http://schemas.openxmlformats.org/drawingml/2006/main">
            <a:r>
              <a:t>MAIN TALK. Target speaking time 25 seconds.</a:t>
            </a:r>
          </a:p>
          <a:p xmlns:a="http://schemas.openxmlformats.org/drawingml/2006/main">
            <a:r>
              <a:t>Source: https://openai.com/academy/marketing/</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skill for a repeatable task. Add automation or an agent only when the trigger, data access, permitted actions, and failure handling are clear. A scheduled workflow can follow fixed steps. Agent autonomy is a separate design choice.</a:t>
            </a:r>
          </a:p>
          <a:p xmlns:a="http://schemas.openxmlformats.org/drawingml/2006/main">
            <a:r>
              <a:t/>
            </a:r>
          </a:p>
          <a:p xmlns:a="http://schemas.openxmlformats.org/drawingml/2006/main">
            <a:r>
              <a:t>OPTIONAL APPENDIX.</a:t>
            </a:r>
          </a:p>
          <a:p xmlns:a="http://schemas.openxmlformats.org/drawingml/2006/main">
            <a:r>
              <a:t>Source: https://openai.com/academy/skills/</a:t>
            </a:r>
          </a:p>
          <a:p xmlns:a="http://schemas.openxmlformats.org/drawingml/2006/main">
            <a:r>
              <a:t>Source: https://www.anthropic.com/engineering/building-effective-agents</a:t>
            </a:r>
          </a:p>
          <a:p xmlns:a="http://schemas.openxmlformats.org/drawingml/2006/main">
            <a:r>
              <a:t>Source: https://openai.com/academy/workspace-agents/</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creator a successful example and the corrections that mattered. Ask it to preserve current authorization, identify missing inputs, and describe the deliverable. Keep campaign-specific facts in a brief, rather than embedding them as universal instructions. Use the build-skills guide for the installation route available in your product.</a:t>
            </a:r>
          </a:p>
          <a:p xmlns:a="http://schemas.openxmlformats.org/drawingml/2006/main">
            <a:r>
              <a:t/>
            </a:r>
          </a:p>
          <a:p xmlns:a="http://schemas.openxmlformats.org/drawingml/2006/main">
            <a:r>
              <a:t>OPTIONAL APPENDIX.</a:t>
            </a:r>
          </a:p>
          <a:p xmlns:a="http://schemas.openxmlformats.org/drawingml/2006/main">
            <a:r>
              <a:t>Source: https://learn.chatgpt.com/docs/build-skills</a:t>
            </a:r>
          </a:p>
          <a:p xmlns:a="http://schemas.openxmlformats.org/drawingml/2006/main">
            <a:r>
              <a:t>Source: https://developers.openai.com/api/docs/guides/agent-evals</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conversations demonstrate these workflow behaviors. They do not establish that every output came from the final saved skill version. Handmade process planning supports the creative work, but the supplied process pictures are generated concepts. Synthetic testing, tracking, and performance reporting remain proposed live-stage workflows.</a:t>
            </a:r>
          </a:p>
          <a:p xmlns:a="http://schemas.openxmlformats.org/drawingml/2006/main">
            <a:r>
              <a:t/>
            </a:r>
          </a:p>
          <a:p xmlns:a="http://schemas.openxmlformats.org/drawingml/2006/main">
            <a:r>
              <a:t>OPTIONAL APPENDIX.</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additions turn the library into a full preparation and learning workflow. They produce reviewable documents, not automatic permission to publish, contact customers, or change spend. The repository includes inputs, output contracts, boundaries, and a small evaluation plan for each.</a:t>
            </a:r>
          </a:p>
          <a:p xmlns:a="http://schemas.openxmlformats.org/drawingml/2006/main">
            <a:r>
              <a:t/>
            </a:r>
          </a:p>
          <a:p xmlns:a="http://schemas.openxmlformats.org/drawingml/2006/main">
            <a:r>
              <a:t>OPTIONAL APPENDIX.</a:t>
            </a:r>
          </a:p>
          <a:p xmlns:a="http://schemas.openxmlformats.org/drawingml/2006/main">
            <a:r>
              <a:t>Source: https://academy.openai.com/public/clubs/work-users-ynjqu/resources/chatgpt-work-for-marketing-teams-webinar-resource-guide-2026-08-26</a:t>
            </a:r>
          </a:p>
          <a:p xmlns:a="http://schemas.openxmlformats.org/drawingml/2006/main">
            <a:r>
              <a:t>Source: https://developers.openai.com/api/docs/guides/agent-evals</a:t>
            </a:r>
          </a:p>
          <a:p xmlns:a="http://schemas.openxmlformats.org/drawingml/2006/main">
            <a:r>
              <a:t>Source: https://developers.openai.com/api/docs/guides/agents/guardrails-approvals</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wallpaper launch, first validate whether samples and fulfillment actually exist. Then compare two approved copy angles with the same image, audience eligibility, placement, offer, and time period. Prespecify sample needs, baseline, minimum meaningful effect, budget, and stopping rules. Avoid choosing a winner after a few favorable clicks. For qualitative research, ask what people understand and what prevents purchase.</a:t>
            </a:r>
          </a:p>
          <a:p xmlns:a="http://schemas.openxmlformats.org/drawingml/2006/main">
            <a:r>
              <a:t/>
            </a:r>
          </a:p>
          <a:p xmlns:a="http://schemas.openxmlformats.org/drawingml/2006/main">
            <a:r>
              <a:t>OPTIONAL APPENDIX.</a:t>
            </a:r>
          </a:p>
          <a:p xmlns:a="http://schemas.openxmlformats.org/drawingml/2006/main">
            <a:r>
              <a:t>Source: https://www.thinkwithgoogle.com/_qs/documents/18403/For_pub_on_TwG___External_Playbook_Modern_Measurement_bmzqiud.pdf</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denominators and time windows consistent. Reconcile purchases and refunds with the commerce record, not just ad-platform totals. Distinguish sample orders from full wallpaper purchases. For a billboard, use a unique landing page or QR code as a response signal. A credible holdout or other suitable causal design would be needed to estimate incrementality. One location with no control cannot support that claim.</a:t>
            </a:r>
          </a:p>
          <a:p xmlns:a="http://schemas.openxmlformats.org/drawingml/2006/main">
            <a:r>
              <a:t/>
            </a:r>
          </a:p>
          <a:p xmlns:a="http://schemas.openxmlformats.org/drawingml/2006/main">
            <a:r>
              <a:t>OPTIONAL APPENDIX.</a:t>
            </a:r>
          </a:p>
          <a:p xmlns:a="http://schemas.openxmlformats.org/drawingml/2006/main">
            <a:r>
              <a:t>Source: https://openai.com/academy/marketing/</a:t>
            </a:r>
          </a:p>
          <a:p xmlns:a="http://schemas.openxmlformats.org/drawingml/2006/main">
            <a:r>
              <a:t>Source: https://www.thinkwithgoogle.com/_qs/documents/18403/For_pub_on_TwG___External_Playbook_Modern_Measurement_bmzqiud.pdf</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Channel operations should maintain one source of truth for asset versions and approvals. Log what actually ran, its URL, time zone, owner, and tracking ID. Review cross-channel repetition and creative fatigue without assuming a performance dip proves fatigue. Route recurring installation questions into truthful FAQs or lifecycle content. Escalate product or fulfillment issues to the owner.</a:t>
            </a:r>
          </a:p>
          <a:p xmlns:a="http://schemas.openxmlformats.org/drawingml/2006/main">
            <a:r>
              <a:t/>
            </a:r>
          </a:p>
          <a:p xmlns:a="http://schemas.openxmlformats.org/drawingml/2006/main">
            <a:r>
              <a:t>OPTIONAL APPENDIX.</a:t>
            </a:r>
          </a:p>
          <a:p xmlns:a="http://schemas.openxmlformats.org/drawingml/2006/main">
            <a:r>
              <a:t>Source: https://academy.openai.com/public/clubs/work-users-ynjqu/resources/chatgpt-work-for-marketing-teams-webinar-resource-guide-2026-08-26</a:t>
            </a:r>
          </a:p>
          <a:p xmlns:a="http://schemas.openxmlformats.org/drawingml/2006/main">
            <a:r>
              <a:t>Source: https://developers.openai.com/api/docs/guides/agents/guardrails-approvals</a:t>
            </a:r>
          </a:p>
          <a:p xmlns:a="http://schemas.openxmlformats.org/drawingml/2006/main">
            <a:r>
              <a:t>Source: https://developers.openai.com/api/docs/guides/agent-evals</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image documents an editorial direction, not an optimal posting ratio. The displayed handle and biography are mockup elements. Before use, verify the artist’s actual account details and obtain approval for the creative. Test the mix with real audience behavior rather than assuming the mockup predicts engagement.</a:t>
            </a:r>
          </a:p>
          <a:p xmlns:a="http://schemas.openxmlformats.org/drawingml/2006/main">
            <a:r>
              <a:t/>
            </a:r>
          </a:p>
          <a:p xmlns:a="http://schemas.openxmlformats.org/drawingml/2006/main">
            <a:r>
              <a:t>OPTIONAL APPENDIX.</a:t>
            </a:r>
          </a:p>
          <a:p xmlns:a="http://schemas.openxmlformats.org/drawingml/2006/main">
            <a:r>
              <a:t>Visual: assets/feed.png.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concept shows how the same campaign world might appear in an interiors editorial setting and a social placement. It is a pitch visualization only. Editorial coverage, paid partnership, and owned content are different channels with different permissions and disclosure requirements. This slide illustrates channel adaptation, not earned-media success.</a:t>
            </a:r>
          </a:p>
          <a:p xmlns:a="http://schemas.openxmlformats.org/drawingml/2006/main">
            <a:r>
              <a:t/>
            </a:r>
          </a:p>
          <a:p xmlns:a="http://schemas.openxmlformats.org/drawingml/2006/main">
            <a:r>
              <a:t>OPTIONAL APPENDIX.</a:t>
            </a:r>
          </a:p>
          <a:p xmlns:a="http://schemas.openxmlformats.org/drawingml/2006/main">
            <a:r>
              <a:t>Visual: assets/vogue-concept.png. AI-generated hypothetical campaign concept supplied or created in the project. Not a photograph of a real product, event, partnership, or media placement.</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creativity article supports deliberate sequencing of human ideation and AI assistance. OpenAI provides the marketing tool and skill framework. Anthropic helps distinguish workflows from agents. Google supplies the attribution and incrementality distinction. The Small Business Jam PDF did not load during this review and is not a source for any claim in this deck.</a:t>
            </a:r>
          </a:p>
          <a:p xmlns:a="http://schemas.openxmlformats.org/drawingml/2006/main">
            <a:r>
              <a:t/>
            </a:r>
          </a:p>
          <a:p xmlns:a="http://schemas.openxmlformats.org/drawingml/2006/main">
            <a:r>
              <a:t>OPTIONAL APPENDIX.</a:t>
            </a:r>
          </a:p>
          <a:p xmlns:a="http://schemas.openxmlformats.org/drawingml/2006/main">
            <a:r>
              <a:t>Source: https://openai.com/academy/marketing/</a:t>
            </a:r>
          </a:p>
          <a:p xmlns:a="http://schemas.openxmlformats.org/drawingml/2006/main">
            <a:r>
              <a:t>Source: https://openai.com/academy/skills/</a:t>
            </a:r>
          </a:p>
          <a:p xmlns:a="http://schemas.openxmlformats.org/drawingml/2006/main">
            <a:r>
              <a:t>Source: https://learn.chatgpt.com/docs/build-skills</a:t>
            </a:r>
          </a:p>
          <a:p xmlns:a="http://schemas.openxmlformats.org/drawingml/2006/main">
            <a:r>
              <a:t>Source: https://academy.openai.com/public/clubs/work-users-ynjqu/resources/chatgpt-work-for-marketing-teams-webinar-resource-guide-2026-08-26</a:t>
            </a:r>
          </a:p>
          <a:p xmlns:a="http://schemas.openxmlformats.org/drawingml/2006/main">
            <a:r>
              <a:t>Source: https://www.anthropic.com/engineering/building-effective-agents</a:t>
            </a:r>
          </a:p>
          <a:p xmlns:a="http://schemas.openxmlformats.org/drawingml/2006/main">
            <a:r>
              <a:t>Source: https://openai.com/academy/workspace-agents/</a:t>
            </a:r>
          </a:p>
          <a:p xmlns:a="http://schemas.openxmlformats.org/drawingml/2006/main">
            <a:r>
              <a:t>Source: https://developers.openai.com/api/docs/guides/agent-evals</a:t>
            </a:r>
          </a:p>
          <a:p xmlns:a="http://schemas.openxmlformats.org/drawingml/2006/main">
            <a:r>
              <a:t>Source: https://developers.openai.com/api/docs/guides/agents/guardrails-approvals</a:t>
            </a:r>
          </a:p>
          <a:p xmlns:a="http://schemas.openxmlformats.org/drawingml/2006/main">
            <a:r>
              <a:t>Source: https://www.thinkwithgoogle.com/_qs/documents/18403/For_pub_on_TwG___External_Playbook_Modern_Measurement_bmzqiud.pdf</a:t>
            </a:r>
          </a:p>
          <a:p xmlns:a="http://schemas.openxmlformats.org/drawingml/2006/main">
            <a:r>
              <a:t>Source: Boussioux, Doshi, Hauser &amp; Hosanagar, The Hidden Cost of AI-Assisted Creativity, MIT Sloan Management Review, July 9, 2026, p. 4. Supplied PDF. https://doi.org/10.63383/sXIt9497</a:t>
            </a:r>
          </a:p>
          <a:p xmlns:a="http://schemas.openxmlformats.org/drawingml/2006/main">
            <a:r>
              <a:t>Case evidence and review coverage: case-study.md. No live campaign performance or measured time-saving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df1222da348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ac3ca348c147f9" /><Relationship Type="http://schemas.openxmlformats.org/officeDocument/2006/relationships/slideLayout" Target="/ppt/slideLayouts/slideLayout1.xml" Id="R1c96346cf73f48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96346cf73f48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5393f89c054359" /><Relationship Type="http://schemas.openxmlformats.org/officeDocument/2006/relationships/image" Target="/ppt/media/image.png" Id="Rdf267fc1a73e4d3a" /><Relationship Type="http://schemas.openxmlformats.org/officeDocument/2006/relationships/notesSlide" Target="/ppt/notesSlides/notesSlide1.xml" Id="R2d875f62a7c945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9178f6e09d450c" /><Relationship Type="http://schemas.openxmlformats.org/officeDocument/2006/relationships/image" Target="/ppt/media/image.jpeg" Id="Rbbcde2cc45a94c5b" /><Relationship Type="http://schemas.openxmlformats.org/officeDocument/2006/relationships/notesSlide" Target="/ppt/notesSlides/notesSlide2.xml" Id="R184481bd76a447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d3d9a5c2f24093" /><Relationship Type="http://schemas.openxmlformats.org/officeDocument/2006/relationships/image" Target="/ppt/media/image2.png" Id="R0ac9e534a9644ece" /><Relationship Type="http://schemas.openxmlformats.org/officeDocument/2006/relationships/notesSlide" Target="/ppt/notesSlides/notesSlide3.xml" Id="Re1b5ff81ade440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e814867bca4434" /><Relationship Type="http://schemas.openxmlformats.org/officeDocument/2006/relationships/image" Target="/ppt/media/image3.png" Id="R5b1f525346d644ca" /><Relationship Type="http://schemas.openxmlformats.org/officeDocument/2006/relationships/notesSlide" Target="/ppt/notesSlides/notesSlide4.xml" Id="R4f5ad2107cea4f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a63f5e1bb74933" /><Relationship Type="http://schemas.openxmlformats.org/officeDocument/2006/relationships/image" Target="/ppt/media/image4.png" Id="R2db478ac243d4dd9" /><Relationship Type="http://schemas.openxmlformats.org/officeDocument/2006/relationships/notesSlide" Target="/ppt/notesSlides/notesSlide5.xml" Id="R33ecabc957b74c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65a31a2c284a9a" /><Relationship Type="http://schemas.openxmlformats.org/officeDocument/2006/relationships/notesSlide" Target="/ppt/notesSlides/notesSlide6.xml" Id="R565525ed57264f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72bc4d14d24527" /><Relationship Type="http://schemas.openxmlformats.org/officeDocument/2006/relationships/notesSlide" Target="/ppt/notesSlides/notesSlide7.xml" Id="Radf341b84d1541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33f2c6899a48fa" /><Relationship Type="http://schemas.openxmlformats.org/officeDocument/2006/relationships/notesSlide" Target="/ppt/notesSlides/notesSlide8.xml" Id="R4d990c4ee18843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a1cd167d774915" /><Relationship Type="http://schemas.openxmlformats.org/officeDocument/2006/relationships/notesSlide" Target="/ppt/notesSlides/notesSlide9.xml" Id="R2fe19168ac7b43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97f3f936984cde" /><Relationship Type="http://schemas.openxmlformats.org/officeDocument/2006/relationships/notesSlide" Target="/ppt/notesSlides/notesSlide10.xml" Id="Rf8c50659b8aa4e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7c3d1747714702" /><Relationship Type="http://schemas.openxmlformats.org/officeDocument/2006/relationships/notesSlide" Target="/ppt/notesSlides/notesSlide11.xml" Id="R5b245cb388974c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a6fca1bec34e6b" /><Relationship Type="http://schemas.openxmlformats.org/officeDocument/2006/relationships/notesSlide" Target="/ppt/notesSlides/notesSlide12.xml" Id="R634d503f4e2a45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8636055d6f48c8" /><Relationship Type="http://schemas.openxmlformats.org/officeDocument/2006/relationships/notesSlide" Target="/ppt/notesSlides/notesSlide13.xml" Id="R48e8a8ae487a46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04083ef81f849ac" /><Relationship Type="http://schemas.openxmlformats.org/officeDocument/2006/relationships/notesSlide" Target="/ppt/notesSlides/notesSlide14.xml" Id="R45ae62c6630a41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5533e746094f63" /><Relationship Type="http://schemas.openxmlformats.org/officeDocument/2006/relationships/notesSlide" Target="/ppt/notesSlides/notesSlide15.xml" Id="R312666f92d8947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35d0e43c174e18" /><Relationship Type="http://schemas.openxmlformats.org/officeDocument/2006/relationships/image" Target="/ppt/media/image5.png" Id="R10632a791d5a4e8d" /><Relationship Type="http://schemas.openxmlformats.org/officeDocument/2006/relationships/notesSlide" Target="/ppt/notesSlides/notesSlide16.xml" Id="R12e09feb43694f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422c4b2bab4213" /><Relationship Type="http://schemas.openxmlformats.org/officeDocument/2006/relationships/image" Target="/ppt/media/image6.png" Id="R62a2c9ab6102421e" /><Relationship Type="http://schemas.openxmlformats.org/officeDocument/2006/relationships/notesSlide" Target="/ppt/notesSlides/notesSlide17.xml" Id="Rd3344cf2ba1746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1970c1831745bb" /><Relationship Type="http://schemas.openxmlformats.org/officeDocument/2006/relationships/notesSlide" Target="/ppt/notesSlides/notesSlide18.xml" Id="R12c2246125484d51" /></Relationships>
</file>

<file path=ppt/slides/slide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D8740A-05E5-4D23-9FE1-B3809B96D64F}"/>
              </a:ext>
            </a:extLst>
          </p:cNvPr>
          <p:cNvSpPr>
            <a:spLocks xmlns:a="http://schemas.openxmlformats.org/drawingml/2006/main" noGrp="1"/>
          </p:cNvSpPr>
          <p:nvPr/>
        </p:nvSpPr>
        <p:spPr>
          <a:xfrm xmlns:a="http://schemas.openxmlformats.org/drawingml/2006/main">
            <a:off x="628650" y="135255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202A28"/>
                </a:solidFill>
                <a:latin typeface="Helvetica Neue"/>
                <a:ea typeface="Helvetica Neue"/>
                <a:cs typeface="Helvetica Neue"/>
              </a:defRPr>
            </a:pPr>
            <a:r>
              <a:rPr sz="4650" b="1">
                <a:solidFill>
                  <a:srgbClr val="202A28"/>
                </a:solidFill>
                <a:latin typeface="Helvetica Neue"/>
                <a:ea typeface="Helvetica Neue"/>
                <a:cs typeface="Helvetica Neue"/>
              </a:rPr>
              <a:t>Marketing workflows</a:t>
            </a:r>
          </a:p>
          <a:p xmlns:a="http://schemas.openxmlformats.org/drawingml/2006/main">
            <a:pPr>
              <a:defRPr sz="4650" b="1">
                <a:solidFill>
                  <a:srgbClr val="202A28"/>
                </a:solidFill>
                <a:latin typeface="Helvetica Neue"/>
                <a:ea typeface="Helvetica Neue"/>
                <a:cs typeface="Helvetica Neue"/>
              </a:defRPr>
            </a:pPr>
            <a:r>
              <a:rPr sz="4650" b="1">
                <a:solidFill>
                  <a:srgbClr val="202A28"/>
                </a:solidFill>
                <a:latin typeface="Helvetica Neue"/>
                <a:ea typeface="Helvetica Neue"/>
                <a:cs typeface="Helvetica Neue"/>
              </a:rPr>
              <a:t>with ChatGPT</a:t>
            </a:r>
          </a:p>
        </p:txBody>
      </p:sp>
      <p:sp>
        <p:nvSpPr>
          <p:cNvPr id="2" name="">
            <a:extLst xmlns:a="http://schemas.openxmlformats.org/drawingml/2006/main">
              <a:ext uri="{FF2B5EF4-FFF2-40B4-BE49-F238E27FC236}">
                <a16:creationId xmlns:a16="http://schemas.microsoft.com/office/drawing/2014/main" id="{9E243124-DD5A-481D-A97E-00BE924C7C9C}"/>
              </a:ext>
            </a:extLst>
          </p:cNvPr>
          <p:cNvSpPr>
            <a:spLocks xmlns:a="http://schemas.openxmlformats.org/drawingml/2006/main" noGrp="1"/>
          </p:cNvSpPr>
          <p:nvPr/>
        </p:nvSpPr>
        <p:spPr>
          <a:xfrm xmlns:a="http://schemas.openxmlformats.org/drawingml/2006/main">
            <a:off x="666750" y="3905250"/>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E6C63"/>
                </a:solidFill>
                <a:latin typeface="Helvetica Neue"/>
                <a:ea typeface="Helvetica Neue"/>
                <a:cs typeface="Helvetica Neue"/>
              </a:defRPr>
            </a:pPr>
            <a:r>
              <a:rPr sz="2175" b="0">
                <a:solidFill>
                  <a:srgbClr val="5E6C63"/>
                </a:solidFill>
                <a:latin typeface="Helvetica Neue"/>
                <a:ea typeface="Helvetica Neue"/>
                <a:cs typeface="Helvetica Neue"/>
              </a:rPr>
              <a:t>Human originality + machine efficiency</a:t>
            </a:r>
          </a:p>
        </p:txBody>
      </p:sp>
      <p:sp>
        <p:nvSpPr>
          <p:cNvPr id="3" name="">
            <a:extLst xmlns:a="http://schemas.openxmlformats.org/drawingml/2006/main">
              <a:ext uri="{FF2B5EF4-FFF2-40B4-BE49-F238E27FC236}">
                <a16:creationId xmlns:a16="http://schemas.microsoft.com/office/drawing/2014/main" id="{05EDD6E0-4D35-4DB0-A4B2-BC335CA751C8}"/>
              </a:ext>
            </a:extLst>
          </p:cNvPr>
          <p:cNvSpPr>
            <a:spLocks xmlns:a="http://schemas.openxmlformats.org/drawingml/2006/main" noGrp="1"/>
          </p:cNvSpPr>
          <p:nvPr/>
        </p:nvSpPr>
        <p:spPr>
          <a:xfrm xmlns:a="http://schemas.openxmlformats.org/drawingml/2006/main">
            <a:off x="666750" y="5876925"/>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Ashley Joyce  /  September 29,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f267fc1a73e4d3a"/>
          <a:stretch xmlns:a="http://schemas.openxmlformats.org/drawingml/2006/main"/>
        </p:blipFill>
        <p:spPr>
          <a:xfrm xmlns:a="http://schemas.openxmlformats.org/drawingml/2006/main">
            <a:off x="7572375" y="682398"/>
            <a:ext cx="4191000" cy="53884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0909D0-B568-42E0-9CB6-2EA3B830970C}"/>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01</a:t>
            </a:r>
          </a:p>
        </p:txBody>
      </p:sp>
    </p:spTree>
    <p:extLst>
      <p:ext uri="{BB962C8B-B14F-4D97-AF65-F5344CB8AC3E}">
        <p14:creationId xmlns:p14="http://schemas.microsoft.com/office/powerpoint/2010/main" val="1260350661"/>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7D70C6-3253-41C1-93FA-CDE0391F8FF2}"/>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My ideas came first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bcde2cc45a94c5b"/>
          <a:stretch xmlns:a="http://schemas.openxmlformats.org/drawingml/2006/main"/>
        </p:blipFill>
        <p:spPr>
          <a:xfrm xmlns:a="http://schemas.openxmlformats.org/drawingml/2006/main">
            <a:off x="7542609" y="1352550"/>
            <a:ext cx="3536156" cy="47148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46B945-FFE4-4E6D-B0C7-FED91363B1C9}"/>
              </a:ext>
            </a:extLst>
          </p:cNvPr>
          <p:cNvSpPr>
            <a:spLocks xmlns:a="http://schemas.openxmlformats.org/drawingml/2006/main" noGrp="1"/>
          </p:cNvSpPr>
          <p:nvPr/>
        </p:nvSpPr>
        <p:spPr>
          <a:xfrm xmlns:a="http://schemas.openxmlformats.org/drawingml/2006/main">
            <a:off x="685800" y="17716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A28"/>
                </a:solidFill>
                <a:latin typeface="Helvetica Neue"/>
                <a:ea typeface="Helvetica Neue"/>
                <a:cs typeface="Helvetica Neue"/>
              </a:defRPr>
            </a:pPr>
            <a:r>
              <a:rPr sz="2325" b="1">
                <a:solidFill>
                  <a:srgbClr val="202A28"/>
                </a:solidFill>
                <a:latin typeface="Helvetica Neue"/>
                <a:ea typeface="Helvetica Neue"/>
                <a:cs typeface="Helvetica Neue"/>
              </a:rPr>
              <a:t>Readings and planning</a:t>
            </a:r>
          </a:p>
        </p:txBody>
      </p:sp>
      <p:sp>
        <p:nvSpPr>
          <p:cNvPr id="4" name="">
            <a:extLst xmlns:a="http://schemas.openxmlformats.org/drawingml/2006/main">
              <a:ext uri="{FF2B5EF4-FFF2-40B4-BE49-F238E27FC236}">
                <a16:creationId xmlns:a16="http://schemas.microsoft.com/office/drawing/2014/main" id="{FFAB318D-97B4-4CEA-9D10-C212E60AC08B}"/>
              </a:ext>
            </a:extLst>
          </p:cNvPr>
          <p:cNvSpPr>
            <a:spLocks xmlns:a="http://schemas.openxmlformats.org/drawingml/2006/main" noGrp="1"/>
          </p:cNvSpPr>
          <p:nvPr/>
        </p:nvSpPr>
        <p:spPr>
          <a:xfrm xmlns:a="http://schemas.openxmlformats.org/drawingml/2006/main">
            <a:off x="685800" y="251460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Pen-and-paper ideation</a:t>
            </a:r>
          </a:p>
        </p:txBody>
      </p:sp>
      <p:sp>
        <p:nvSpPr>
          <p:cNvPr id="5" name="">
            <a:extLst xmlns:a="http://schemas.openxmlformats.org/drawingml/2006/main">
              <a:ext uri="{FF2B5EF4-FFF2-40B4-BE49-F238E27FC236}">
                <a16:creationId xmlns:a16="http://schemas.microsoft.com/office/drawing/2014/main" id="{565BD011-8F2F-4881-8DE2-EBFF66A50479}"/>
              </a:ext>
            </a:extLst>
          </p:cNvPr>
          <p:cNvSpPr>
            <a:spLocks xmlns:a="http://schemas.openxmlformats.org/drawingml/2006/main" noGrp="1"/>
          </p:cNvSpPr>
          <p:nvPr/>
        </p:nvSpPr>
        <p:spPr>
          <a:xfrm xmlns:a="http://schemas.openxmlformats.org/drawingml/2006/main">
            <a:off x="685800" y="32575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AI questions to sharpen the brief</a:t>
            </a:r>
          </a:p>
        </p:txBody>
      </p:sp>
      <p:sp>
        <p:nvSpPr>
          <p:cNvPr id="6" name="">
            <a:extLst xmlns:a="http://schemas.openxmlformats.org/drawingml/2006/main">
              <a:ext uri="{FF2B5EF4-FFF2-40B4-BE49-F238E27FC236}">
                <a16:creationId xmlns:a16="http://schemas.microsoft.com/office/drawing/2014/main" id="{DC3A4749-0986-408C-AE05-7C6D1E16B6F1}"/>
              </a:ext>
            </a:extLst>
          </p:cNvPr>
          <p:cNvSpPr>
            <a:spLocks xmlns:a="http://schemas.openxmlformats.org/drawingml/2006/main" noGrp="1"/>
          </p:cNvSpPr>
          <p:nvPr/>
        </p:nvSpPr>
        <p:spPr>
          <a:xfrm xmlns:a="http://schemas.openxmlformats.org/drawingml/2006/main">
            <a:off x="685800" y="4419600"/>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9483E"/>
                </a:solidFill>
                <a:latin typeface="Helvetica Neue"/>
                <a:ea typeface="Helvetica Neue"/>
                <a:cs typeface="Helvetica Neue"/>
              </a:defRPr>
            </a:pPr>
            <a:r>
              <a:rPr sz="2175" b="0">
                <a:solidFill>
                  <a:srgbClr val="29483E"/>
                </a:solidFill>
                <a:latin typeface="Helvetica Neue"/>
                <a:ea typeface="Helvetica Neue"/>
                <a:cs typeface="Helvetica Neue"/>
              </a:rPr>
              <a:t>“Keep humans in the driver’s seat for ideation.”</a:t>
            </a:r>
          </a:p>
        </p:txBody>
      </p:sp>
      <p:sp>
        <p:nvSpPr>
          <p:cNvPr id="7" name="">
            <a:extLst xmlns:a="http://schemas.openxmlformats.org/drawingml/2006/main">
              <a:ext uri="{FF2B5EF4-FFF2-40B4-BE49-F238E27FC236}">
                <a16:creationId xmlns:a16="http://schemas.microsoft.com/office/drawing/2014/main" id="{01247A9F-F7FC-4DDC-994E-08DD8E0908F1}"/>
              </a:ext>
            </a:extLst>
          </p:cNvPr>
          <p:cNvSpPr>
            <a:spLocks xmlns:a="http://schemas.openxmlformats.org/drawingml/2006/main" noGrp="1"/>
          </p:cNvSpPr>
          <p:nvPr/>
        </p:nvSpPr>
        <p:spPr>
          <a:xfrm xmlns:a="http://schemas.openxmlformats.org/drawingml/2006/main">
            <a:off x="685800" y="5505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C63"/>
                </a:solidFill>
                <a:latin typeface="Helvetica Neue"/>
                <a:ea typeface="Helvetica Neue"/>
                <a:cs typeface="Helvetica Neue"/>
              </a:defRPr>
            </a:pPr>
            <a:r>
              <a:rPr sz="1275" b="0">
                <a:solidFill>
                  <a:srgbClr val="5E6C63"/>
                </a:solidFill>
                <a:latin typeface="Helvetica Neue"/>
                <a:ea typeface="Helvetica Neue"/>
                <a:cs typeface="Helvetica Neue"/>
              </a:rPr>
              <a:t>Boussioux et al., 2026, p. 4</a:t>
            </a:r>
          </a:p>
        </p:txBody>
      </p:sp>
      <p:sp>
        <p:nvSpPr>
          <p:cNvPr id="8" name="">
            <a:extLst xmlns:a="http://schemas.openxmlformats.org/drawingml/2006/main">
              <a:ext uri="{FF2B5EF4-FFF2-40B4-BE49-F238E27FC236}">
                <a16:creationId xmlns:a16="http://schemas.microsoft.com/office/drawing/2014/main" id="{E98FC022-F63C-4BFC-B087-33D15EAC8248}"/>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02</a:t>
            </a:r>
          </a:p>
        </p:txBody>
      </p:sp>
    </p:spTree>
    <p:extLst>
      <p:ext uri="{BB962C8B-B14F-4D97-AF65-F5344CB8AC3E}">
        <p14:creationId xmlns:p14="http://schemas.microsoft.com/office/powerpoint/2010/main" val="2135213202"/>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BF86F5-47AE-44A8-9C60-63E690C355FC}"/>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Pressure-testing narrowed the brief</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ac9e534a9644ece"/>
          <a:stretch xmlns:a="http://schemas.openxmlformats.org/drawingml/2006/main"/>
        </p:blipFill>
        <p:spPr>
          <a:xfrm xmlns:a="http://schemas.openxmlformats.org/drawingml/2006/main">
            <a:off x="7424065" y="1352550"/>
            <a:ext cx="3773245" cy="47148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EC789D-282F-4C18-8F57-EA01FD8DE443}"/>
              </a:ext>
            </a:extLst>
          </p:cNvPr>
          <p:cNvSpPr>
            <a:spLocks xmlns:a="http://schemas.openxmlformats.org/drawingml/2006/main" noGrp="1"/>
          </p:cNvSpPr>
          <p:nvPr/>
        </p:nvSpPr>
        <p:spPr>
          <a:xfrm xmlns:a="http://schemas.openxmlformats.org/drawingml/2006/main">
            <a:off x="685800" y="17716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A28"/>
                </a:solidFill>
                <a:latin typeface="Helvetica Neue"/>
                <a:ea typeface="Helvetica Neue"/>
                <a:cs typeface="Helvetica Neue"/>
              </a:defRPr>
            </a:pPr>
            <a:r>
              <a:rPr sz="2325" b="1">
                <a:solidFill>
                  <a:srgbClr val="202A28"/>
                </a:solidFill>
                <a:latin typeface="Helvetica Neue"/>
                <a:ea typeface="Helvetica Neue"/>
                <a:cs typeface="Helvetica Neue"/>
              </a:rPr>
              <a:t>One proposed hotel pilot</a:t>
            </a:r>
          </a:p>
        </p:txBody>
      </p:sp>
      <p:sp>
        <p:nvSpPr>
          <p:cNvPr id="4" name="">
            <a:extLst xmlns:a="http://schemas.openxmlformats.org/drawingml/2006/main">
              <a:ext uri="{FF2B5EF4-FFF2-40B4-BE49-F238E27FC236}">
                <a16:creationId xmlns:a16="http://schemas.microsoft.com/office/drawing/2014/main" id="{8F77DABC-1FE7-4BB4-922F-1E1A2A1727CA}"/>
              </a:ext>
            </a:extLst>
          </p:cNvPr>
          <p:cNvSpPr>
            <a:spLocks xmlns:a="http://schemas.openxmlformats.org/drawingml/2006/main" noGrp="1"/>
          </p:cNvSpPr>
          <p:nvPr/>
        </p:nvSpPr>
        <p:spPr>
          <a:xfrm xmlns:a="http://schemas.openxmlformats.org/drawingml/2006/main">
            <a:off x="685800" y="251460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A reason for the hotel to invest</a:t>
            </a:r>
          </a:p>
        </p:txBody>
      </p:sp>
      <p:sp>
        <p:nvSpPr>
          <p:cNvPr id="5" name="">
            <a:extLst xmlns:a="http://schemas.openxmlformats.org/drawingml/2006/main">
              <a:ext uri="{FF2B5EF4-FFF2-40B4-BE49-F238E27FC236}">
                <a16:creationId xmlns:a16="http://schemas.microsoft.com/office/drawing/2014/main" id="{CC6545E7-3BC0-4453-9215-543AA8B13562}"/>
              </a:ext>
            </a:extLst>
          </p:cNvPr>
          <p:cNvSpPr>
            <a:spLocks xmlns:a="http://schemas.openxmlformats.org/drawingml/2006/main" noGrp="1"/>
          </p:cNvSpPr>
          <p:nvPr/>
        </p:nvSpPr>
        <p:spPr>
          <a:xfrm xmlns:a="http://schemas.openxmlformats.org/drawingml/2006/main">
            <a:off x="685800" y="32575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Wallpaper launch comes later</a:t>
            </a:r>
          </a:p>
        </p:txBody>
      </p:sp>
      <p:sp>
        <p:nvSpPr>
          <p:cNvPr id="6" name="">
            <a:extLst xmlns:a="http://schemas.openxmlformats.org/drawingml/2006/main">
              <a:ext uri="{FF2B5EF4-FFF2-40B4-BE49-F238E27FC236}">
                <a16:creationId xmlns:a16="http://schemas.microsoft.com/office/drawing/2014/main" id="{85CE14D0-9BAC-4477-9C8B-DBF74537EEC3}"/>
              </a:ext>
            </a:extLst>
          </p:cNvPr>
          <p:cNvSpPr>
            <a:spLocks xmlns:a="http://schemas.openxmlformats.org/drawingml/2006/main" noGrp="1"/>
          </p:cNvSpPr>
          <p:nvPr/>
        </p:nvSpPr>
        <p:spPr>
          <a:xfrm xmlns:a="http://schemas.openxmlformats.org/drawingml/2006/main">
            <a:off x="685800" y="5381625"/>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E6C63"/>
                </a:solidFill>
                <a:latin typeface="Helvetica Neue"/>
                <a:ea typeface="Helvetica Neue"/>
                <a:cs typeface="Helvetica Neue"/>
              </a:defRPr>
            </a:pPr>
            <a:r>
              <a:rPr sz="1500" b="0">
                <a:solidFill>
                  <a:srgbClr val="5E6C63"/>
                </a:solidFill>
                <a:latin typeface="Helvetica Neue"/>
                <a:ea typeface="Helvetica Neue"/>
                <a:cs typeface="Helvetica Neue"/>
              </a:rPr>
              <a:t>Concept image. No confirmed partnership.</a:t>
            </a:r>
          </a:p>
        </p:txBody>
      </p:sp>
      <p:sp>
        <p:nvSpPr>
          <p:cNvPr id="7" name="">
            <a:extLst xmlns:a="http://schemas.openxmlformats.org/drawingml/2006/main">
              <a:ext uri="{FF2B5EF4-FFF2-40B4-BE49-F238E27FC236}">
                <a16:creationId xmlns:a16="http://schemas.microsoft.com/office/drawing/2014/main" id="{599E09A5-2401-46CD-A16D-86701BD48ABE}"/>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03</a:t>
            </a:r>
          </a:p>
        </p:txBody>
      </p:sp>
    </p:spTree>
    <p:extLst>
      <p:ext uri="{BB962C8B-B14F-4D97-AF65-F5344CB8AC3E}">
        <p14:creationId xmlns:p14="http://schemas.microsoft.com/office/powerpoint/2010/main" val="1297522929"/>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F5E2E0-8195-4EAA-A745-CE7C10201AD8}"/>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Specific feedback improved the work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b1f525346d644ca"/>
          <a:stretch xmlns:a="http://schemas.openxmlformats.org/drawingml/2006/main"/>
        </p:blipFill>
        <p:spPr>
          <a:xfrm xmlns:a="http://schemas.openxmlformats.org/drawingml/2006/main">
            <a:off x="7739063" y="1352550"/>
            <a:ext cx="3143250" cy="47148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C1154B1-379B-4492-8D36-8E122A1C85B9}"/>
              </a:ext>
            </a:extLst>
          </p:cNvPr>
          <p:cNvSpPr>
            <a:spLocks xmlns:a="http://schemas.openxmlformats.org/drawingml/2006/main" noGrp="1"/>
          </p:cNvSpPr>
          <p:nvPr/>
        </p:nvSpPr>
        <p:spPr>
          <a:xfrm xmlns:a="http://schemas.openxmlformats.org/drawingml/2006/main">
            <a:off x="685800" y="17716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A28"/>
                </a:solidFill>
                <a:latin typeface="Helvetica Neue"/>
                <a:ea typeface="Helvetica Neue"/>
                <a:cs typeface="Helvetica Neue"/>
              </a:defRPr>
            </a:pPr>
            <a:r>
              <a:rPr sz="2325" b="1">
                <a:solidFill>
                  <a:srgbClr val="202A28"/>
                </a:solidFill>
                <a:latin typeface="Helvetica Neue"/>
                <a:ea typeface="Helvetica Neue"/>
                <a:cs typeface="Helvetica Neue"/>
              </a:rPr>
              <a:t>Smaller figures</a:t>
            </a:r>
          </a:p>
        </p:txBody>
      </p:sp>
      <p:sp>
        <p:nvSpPr>
          <p:cNvPr id="4" name="">
            <a:extLst xmlns:a="http://schemas.openxmlformats.org/drawingml/2006/main">
              <a:ext uri="{FF2B5EF4-FFF2-40B4-BE49-F238E27FC236}">
                <a16:creationId xmlns:a16="http://schemas.microsoft.com/office/drawing/2014/main" id="{EC1ADD50-7480-4DA3-A9E8-E20C9B505BDC}"/>
              </a:ext>
            </a:extLst>
          </p:cNvPr>
          <p:cNvSpPr>
            <a:spLocks xmlns:a="http://schemas.openxmlformats.org/drawingml/2006/main" noGrp="1"/>
          </p:cNvSpPr>
          <p:nvPr/>
        </p:nvSpPr>
        <p:spPr>
          <a:xfrm xmlns:a="http://schemas.openxmlformats.org/drawingml/2006/main">
            <a:off x="685800" y="251460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More visible paint texture</a:t>
            </a:r>
          </a:p>
        </p:txBody>
      </p:sp>
      <p:sp>
        <p:nvSpPr>
          <p:cNvPr id="5" name="">
            <a:extLst xmlns:a="http://schemas.openxmlformats.org/drawingml/2006/main">
              <a:ext uri="{FF2B5EF4-FFF2-40B4-BE49-F238E27FC236}">
                <a16:creationId xmlns:a16="http://schemas.microsoft.com/office/drawing/2014/main" id="{1F1341C9-A3FD-422E-BDFE-6BC77ED7F752}"/>
              </a:ext>
            </a:extLst>
          </p:cNvPr>
          <p:cNvSpPr>
            <a:spLocks xmlns:a="http://schemas.openxmlformats.org/drawingml/2006/main" noGrp="1"/>
          </p:cNvSpPr>
          <p:nvPr/>
        </p:nvSpPr>
        <p:spPr>
          <a:xfrm xmlns:a="http://schemas.openxmlformats.org/drawingml/2006/main">
            <a:off x="685800" y="3257550"/>
            <a:ext cx="600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A28"/>
                </a:solidFill>
                <a:latin typeface="Helvetica Neue"/>
                <a:ea typeface="Helvetica Neue"/>
                <a:cs typeface="Helvetica Neue"/>
              </a:defRPr>
            </a:pPr>
            <a:r>
              <a:rPr sz="2325" b="0">
                <a:solidFill>
                  <a:srgbClr val="202A28"/>
                </a:solidFill>
                <a:latin typeface="Helvetica Neue"/>
                <a:ea typeface="Helvetica Neue"/>
                <a:cs typeface="Helvetica Neue"/>
              </a:rPr>
              <a:t>A clearer New York story</a:t>
            </a:r>
          </a:p>
        </p:txBody>
      </p:sp>
      <p:sp>
        <p:nvSpPr>
          <p:cNvPr id="6" name="">
            <a:extLst xmlns:a="http://schemas.openxmlformats.org/drawingml/2006/main">
              <a:ext uri="{FF2B5EF4-FFF2-40B4-BE49-F238E27FC236}">
                <a16:creationId xmlns:a16="http://schemas.microsoft.com/office/drawing/2014/main" id="{1B3A4527-CD64-4E19-A91D-45531489C163}"/>
              </a:ext>
            </a:extLst>
          </p:cNvPr>
          <p:cNvSpPr>
            <a:spLocks xmlns:a="http://schemas.openxmlformats.org/drawingml/2006/main" noGrp="1"/>
          </p:cNvSpPr>
          <p:nvPr/>
        </p:nvSpPr>
        <p:spPr>
          <a:xfrm xmlns:a="http://schemas.openxmlformats.org/drawingml/2006/main">
            <a:off x="685800" y="5381625"/>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E6C63"/>
                </a:solidFill>
                <a:latin typeface="Helvetica Neue"/>
                <a:ea typeface="Helvetica Neue"/>
                <a:cs typeface="Helvetica Neue"/>
              </a:defRPr>
            </a:pPr>
            <a:r>
              <a:rPr sz="1500" b="0">
                <a:solidFill>
                  <a:srgbClr val="5E6C63"/>
                </a:solidFill>
                <a:latin typeface="Helvetica Neue"/>
                <a:ea typeface="Helvetica Neue"/>
                <a:cs typeface="Helvetica Neue"/>
              </a:rPr>
              <a:t>New York Minute: three proposed wallpaper designs</a:t>
            </a:r>
          </a:p>
        </p:txBody>
      </p:sp>
      <p:sp>
        <p:nvSpPr>
          <p:cNvPr id="7" name="">
            <a:extLst xmlns:a="http://schemas.openxmlformats.org/drawingml/2006/main">
              <a:ext uri="{FF2B5EF4-FFF2-40B4-BE49-F238E27FC236}">
                <a16:creationId xmlns:a16="http://schemas.microsoft.com/office/drawing/2014/main" id="{233850A9-4BDF-4480-8E3D-7D7614D21F08}"/>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04</a:t>
            </a:r>
          </a:p>
        </p:txBody>
      </p:sp>
    </p:spTree>
    <p:extLst>
      <p:ext uri="{BB962C8B-B14F-4D97-AF65-F5344CB8AC3E}">
        <p14:creationId xmlns:p14="http://schemas.microsoft.com/office/powerpoint/2010/main" val="1442365391"/>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0BE78D-D77F-4B85-9D4D-EADD9D5C61DB}"/>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The feed needed more of the artist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db478ac243d4dd9"/>
          <a:stretch xmlns:a="http://schemas.openxmlformats.org/drawingml/2006/main"/>
        </p:blipFill>
        <p:spPr>
          <a:xfrm xmlns:a="http://schemas.openxmlformats.org/drawingml/2006/main">
            <a:off x="2624138" y="1257300"/>
            <a:ext cx="6943725"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21B5A1-8C80-4A9D-8F95-B6C3215461EB}"/>
              </a:ext>
            </a:extLst>
          </p:cNvPr>
          <p:cNvSpPr>
            <a:spLocks xmlns:a="http://schemas.openxmlformats.org/drawingml/2006/main" noGrp="1"/>
          </p:cNvSpPr>
          <p:nvPr/>
        </p:nvSpPr>
        <p:spPr>
          <a:xfrm xmlns:a="http://schemas.openxmlformats.org/drawingml/2006/main">
            <a:off x="685800" y="60579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E6C63"/>
                </a:solidFill>
                <a:latin typeface="Helvetica Neue"/>
                <a:ea typeface="Helvetica Neue"/>
                <a:cs typeface="Helvetica Neue"/>
              </a:defRPr>
            </a:pPr>
            <a:r>
              <a:rPr sz="1500" b="0">
                <a:solidFill>
                  <a:srgbClr val="5E6C63"/>
                </a:solidFill>
                <a:latin typeface="Helvetica Neue"/>
                <a:ea typeface="Helvetica Neue"/>
                <a:cs typeface="Helvetica Neue"/>
              </a:rPr>
              <a:t>My correction: more standalone art, process, and occasional reveals</a:t>
            </a:r>
          </a:p>
        </p:txBody>
      </p:sp>
      <p:sp>
        <p:nvSpPr>
          <p:cNvPr id="4" name="">
            <a:extLst xmlns:a="http://schemas.openxmlformats.org/drawingml/2006/main">
              <a:ext uri="{FF2B5EF4-FFF2-40B4-BE49-F238E27FC236}">
                <a16:creationId xmlns:a16="http://schemas.microsoft.com/office/drawing/2014/main" id="{B498EA26-8A22-41FF-9183-0974E05AC477}"/>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05</a:t>
            </a:r>
          </a:p>
        </p:txBody>
      </p:sp>
    </p:spTree>
    <p:extLst>
      <p:ext uri="{BB962C8B-B14F-4D97-AF65-F5344CB8AC3E}">
        <p14:creationId xmlns:p14="http://schemas.microsoft.com/office/powerpoint/2010/main" val="1035373385"/>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4E5C0D-3493-4E9B-B895-0B34E3E7F3D5}"/>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Corrections became skill instructions</a:t>
            </a:r>
          </a:p>
        </p:txBody>
      </p:sp>
      <p:sp>
        <p:nvSpPr>
          <p:cNvPr id="2" name="">
            <a:extLst xmlns:a="http://schemas.openxmlformats.org/drawingml/2006/main">
              <a:ext uri="{FF2B5EF4-FFF2-40B4-BE49-F238E27FC236}">
                <a16:creationId xmlns:a16="http://schemas.microsoft.com/office/drawing/2014/main" id="{BB16C4DE-6AB3-4BFC-BC35-1FF2D04224BA}"/>
              </a:ext>
            </a:extLst>
          </p:cNvPr>
          <p:cNvSpPr>
            <a:spLocks xmlns:a="http://schemas.openxmlformats.org/drawingml/2006/main" noGrp="1"/>
          </p:cNvSpPr>
          <p:nvPr/>
        </p:nvSpPr>
        <p:spPr>
          <a:xfrm xmlns:a="http://schemas.openxmlformats.org/drawingml/2006/main">
            <a:off x="685800" y="1619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A28"/>
                </a:solidFill>
                <a:latin typeface="Helvetica Neue"/>
                <a:ea typeface="Helvetica Neue"/>
                <a:cs typeface="Helvetica Neue"/>
              </a:defRPr>
            </a:pPr>
            <a:r>
              <a:rPr sz="2475" b="1">
                <a:solidFill>
                  <a:srgbClr val="202A28"/>
                </a:solidFill>
                <a:latin typeface="Helvetica Neue"/>
                <a:ea typeface="Helvetica Neue"/>
                <a:cs typeface="Helvetica Neue"/>
              </a:rPr>
              <a:t>Inputs: brief + references</a:t>
            </a:r>
          </a:p>
        </p:txBody>
      </p:sp>
      <p:sp>
        <p:nvSpPr>
          <p:cNvPr id="3" name="">
            <a:extLst xmlns:a="http://schemas.openxmlformats.org/drawingml/2006/main">
              <a:ext uri="{FF2B5EF4-FFF2-40B4-BE49-F238E27FC236}">
                <a16:creationId xmlns:a16="http://schemas.microsoft.com/office/drawing/2014/main" id="{9A6CBE92-46BE-4756-B53C-62F9B9E47ECE}"/>
              </a:ext>
            </a:extLst>
          </p:cNvPr>
          <p:cNvSpPr>
            <a:spLocks xmlns:a="http://schemas.openxmlformats.org/drawingml/2006/main" noGrp="1"/>
          </p:cNvSpPr>
          <p:nvPr/>
        </p:nvSpPr>
        <p:spPr>
          <a:xfrm xmlns:a="http://schemas.openxmlformats.org/drawingml/2006/main">
            <a:off x="685800" y="2286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A28"/>
                </a:solidFill>
                <a:latin typeface="Helvetica Neue"/>
                <a:ea typeface="Helvetica Neue"/>
                <a:cs typeface="Helvetica Neue"/>
              </a:defRPr>
            </a:pPr>
            <a:r>
              <a:rPr sz="2475" b="0">
                <a:solidFill>
                  <a:srgbClr val="202A28"/>
                </a:solidFill>
                <a:latin typeface="Helvetica Neue"/>
                <a:ea typeface="Helvetica Neue"/>
                <a:cs typeface="Helvetica Neue"/>
              </a:rPr>
              <a:t>Process: preserve the approved idea</a:t>
            </a:r>
          </a:p>
        </p:txBody>
      </p:sp>
      <p:sp>
        <p:nvSpPr>
          <p:cNvPr id="4" name="">
            <a:extLst xmlns:a="http://schemas.openxmlformats.org/drawingml/2006/main">
              <a:ext uri="{FF2B5EF4-FFF2-40B4-BE49-F238E27FC236}">
                <a16:creationId xmlns:a16="http://schemas.microsoft.com/office/drawing/2014/main" id="{E48B2023-2CBD-495B-BC26-8B189F22A595}"/>
              </a:ext>
            </a:extLst>
          </p:cNvPr>
          <p:cNvSpPr>
            <a:spLocks xmlns:a="http://schemas.openxmlformats.org/drawingml/2006/main" noGrp="1"/>
          </p:cNvSpPr>
          <p:nvPr/>
        </p:nvSpPr>
        <p:spPr>
          <a:xfrm xmlns:a="http://schemas.openxmlformats.org/drawingml/2006/main">
            <a:off x="685800" y="2952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A28"/>
                </a:solidFill>
                <a:latin typeface="Helvetica Neue"/>
                <a:ea typeface="Helvetica Neue"/>
                <a:cs typeface="Helvetica Neue"/>
              </a:defRPr>
            </a:pPr>
            <a:r>
              <a:rPr sz="2475" b="0">
                <a:solidFill>
                  <a:srgbClr val="202A28"/>
                </a:solidFill>
                <a:latin typeface="Helvetica Neue"/>
                <a:ea typeface="Helvetica Neue"/>
                <a:cs typeface="Helvetica Neue"/>
              </a:rPr>
              <a:t>Checks: facts + fit + useful critique</a:t>
            </a:r>
          </a:p>
        </p:txBody>
      </p:sp>
      <p:sp>
        <p:nvSpPr>
          <p:cNvPr id="5" name="">
            <a:extLst xmlns:a="http://schemas.openxmlformats.org/drawingml/2006/main">
              <a:ext uri="{FF2B5EF4-FFF2-40B4-BE49-F238E27FC236}">
                <a16:creationId xmlns:a16="http://schemas.microsoft.com/office/drawing/2014/main" id="{F26BD9E2-00EF-4B0B-BBB7-D4BDCB9CED7F}"/>
              </a:ext>
            </a:extLst>
          </p:cNvPr>
          <p:cNvSpPr>
            <a:spLocks xmlns:a="http://schemas.openxmlformats.org/drawingml/2006/main" noGrp="1"/>
          </p:cNvSpPr>
          <p:nvPr/>
        </p:nvSpPr>
        <p:spPr>
          <a:xfrm xmlns:a="http://schemas.openxmlformats.org/drawingml/2006/main">
            <a:off x="685800" y="3619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A28"/>
                </a:solidFill>
                <a:latin typeface="Helvetica Neue"/>
                <a:ea typeface="Helvetica Neue"/>
                <a:cs typeface="Helvetica Neue"/>
              </a:defRPr>
            </a:pPr>
            <a:r>
              <a:rPr sz="2475" b="0">
                <a:solidFill>
                  <a:srgbClr val="202A28"/>
                </a:solidFill>
                <a:latin typeface="Helvetica Neue"/>
                <a:ea typeface="Helvetica Neue"/>
                <a:cs typeface="Helvetica Neue"/>
              </a:rPr>
              <a:t>Output: a draft the marketer can review</a:t>
            </a:r>
          </a:p>
        </p:txBody>
      </p:sp>
      <p:sp>
        <p:nvSpPr>
          <p:cNvPr id="6" name="">
            <a:extLst xmlns:a="http://schemas.openxmlformats.org/drawingml/2006/main">
              <a:ext uri="{FF2B5EF4-FFF2-40B4-BE49-F238E27FC236}">
                <a16:creationId xmlns:a16="http://schemas.microsoft.com/office/drawing/2014/main" id="{3ED20FD9-D146-4A74-B2FD-38C4254E8780}"/>
              </a:ext>
            </a:extLst>
          </p:cNvPr>
          <p:cNvSpPr>
            <a:spLocks xmlns:a="http://schemas.openxmlformats.org/drawingml/2006/main" noGrp="1"/>
          </p:cNvSpPr>
          <p:nvPr/>
        </p:nvSpPr>
        <p:spPr>
          <a:xfrm xmlns:a="http://schemas.openxmlformats.org/drawingml/2006/main">
            <a:off x="685800" y="49720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483E"/>
                </a:solidFill>
                <a:latin typeface="Helvetica Neue"/>
                <a:ea typeface="Helvetica Neue"/>
                <a:cs typeface="Helvetica Neue"/>
              </a:defRPr>
            </a:pPr>
            <a:r>
              <a:rPr sz="2250" b="0">
                <a:solidFill>
                  <a:srgbClr val="29483E"/>
                </a:solidFill>
                <a:latin typeface="Helvetica Neue"/>
                <a:ea typeface="Helvetica Neue"/>
                <a:cs typeface="Helvetica Neue"/>
              </a:rPr>
              <a:t>“A skill is a reusable, shareable workflow”</a:t>
            </a:r>
          </a:p>
        </p:txBody>
      </p:sp>
      <p:sp>
        <p:nvSpPr>
          <p:cNvPr id="7" name="">
            <a:extLst xmlns:a="http://schemas.openxmlformats.org/drawingml/2006/main">
              <a:ext uri="{FF2B5EF4-FFF2-40B4-BE49-F238E27FC236}">
                <a16:creationId xmlns:a16="http://schemas.microsoft.com/office/drawing/2014/main" id="{83F9C68D-96C9-4955-844E-F831E45E372C}"/>
              </a:ext>
            </a:extLst>
          </p:cNvPr>
          <p:cNvSpPr>
            <a:spLocks xmlns:a="http://schemas.openxmlformats.org/drawingml/2006/main" noGrp="1"/>
          </p:cNvSpPr>
          <p:nvPr/>
        </p:nvSpPr>
        <p:spPr>
          <a:xfrm xmlns:a="http://schemas.openxmlformats.org/drawingml/2006/main">
            <a:off x="685800" y="55911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6C63"/>
                </a:solidFill>
                <a:latin typeface="Helvetica Neue"/>
                <a:ea typeface="Helvetica Neue"/>
                <a:cs typeface="Helvetica Neue"/>
              </a:defRPr>
            </a:pPr>
            <a:r>
              <a:rPr sz="1350" b="0">
                <a:solidFill>
                  <a:srgbClr val="5E6C63"/>
                </a:solidFill>
                <a:latin typeface="Helvetica Neue"/>
                <a:ea typeface="Helvetica Neue"/>
                <a:cs typeface="Helvetica Neue"/>
              </a:rPr>
              <a:t>OpenAI Academy, Using skills</a:t>
            </a:r>
          </a:p>
        </p:txBody>
      </p:sp>
      <p:sp>
        <p:nvSpPr>
          <p:cNvPr id="8" name="">
            <a:extLst xmlns:a="http://schemas.openxmlformats.org/drawingml/2006/main">
              <a:ext uri="{FF2B5EF4-FFF2-40B4-BE49-F238E27FC236}">
                <a16:creationId xmlns:a16="http://schemas.microsoft.com/office/drawing/2014/main" id="{604922B2-D83E-4AF9-9234-A85984B2DBA0}"/>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06</a:t>
            </a:r>
          </a:p>
        </p:txBody>
      </p:sp>
    </p:spTree>
    <p:extLst>
      <p:ext uri="{BB962C8B-B14F-4D97-AF65-F5344CB8AC3E}">
        <p14:creationId xmlns:p14="http://schemas.microsoft.com/office/powerpoint/2010/main" val="2079784998"/>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62A20A-E50E-4040-915F-3714C774E3A3}"/>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Once live, the workflow changes</a:t>
            </a:r>
          </a:p>
        </p:txBody>
      </p:sp>
      <p:sp>
        <p:nvSpPr>
          <p:cNvPr id="2" name="">
            <a:extLst xmlns:a="http://schemas.openxmlformats.org/drawingml/2006/main">
              <a:ext uri="{FF2B5EF4-FFF2-40B4-BE49-F238E27FC236}">
                <a16:creationId xmlns:a16="http://schemas.microsoft.com/office/drawing/2014/main" id="{4BECFBA9-7071-4D11-B746-0D0E9D837884}"/>
              </a:ext>
            </a:extLst>
          </p:cNvPr>
          <p:cNvSpPr>
            <a:spLocks xmlns:a="http://schemas.openxmlformats.org/drawingml/2006/main" noGrp="1"/>
          </p:cNvSpPr>
          <p:nvPr/>
        </p:nvSpPr>
        <p:spPr>
          <a:xfrm xmlns:a="http://schemas.openxmlformats.org/drawingml/2006/main">
            <a:off x="685800" y="1619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02A28"/>
                </a:solidFill>
                <a:latin typeface="Helvetica Neue"/>
                <a:ea typeface="Helvetica Neue"/>
                <a:cs typeface="Helvetica Neue"/>
              </a:defRPr>
            </a:pPr>
            <a:r>
              <a:rPr sz="2475" b="1">
                <a:solidFill>
                  <a:srgbClr val="202A28"/>
                </a:solidFill>
                <a:latin typeface="Helvetica Neue"/>
                <a:ea typeface="Helvetica Neue"/>
                <a:cs typeface="Helvetica Neue"/>
              </a:rPr>
              <a:t>Before launch: tracking and a test plan</a:t>
            </a:r>
          </a:p>
        </p:txBody>
      </p:sp>
      <p:sp>
        <p:nvSpPr>
          <p:cNvPr id="3" name="">
            <a:extLst xmlns:a="http://schemas.openxmlformats.org/drawingml/2006/main">
              <a:ext uri="{FF2B5EF4-FFF2-40B4-BE49-F238E27FC236}">
                <a16:creationId xmlns:a16="http://schemas.microsoft.com/office/drawing/2014/main" id="{3517AA42-7C0A-4FE2-B210-804F2D62CD1E}"/>
              </a:ext>
            </a:extLst>
          </p:cNvPr>
          <p:cNvSpPr>
            <a:spLocks xmlns:a="http://schemas.openxmlformats.org/drawingml/2006/main" noGrp="1"/>
          </p:cNvSpPr>
          <p:nvPr/>
        </p:nvSpPr>
        <p:spPr>
          <a:xfrm xmlns:a="http://schemas.openxmlformats.org/drawingml/2006/main">
            <a:off x="685800" y="2686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A28"/>
                </a:solidFill>
                <a:latin typeface="Helvetica Neue"/>
                <a:ea typeface="Helvetica Neue"/>
                <a:cs typeface="Helvetica Neue"/>
              </a:defRPr>
            </a:pPr>
            <a:r>
              <a:rPr sz="2475" b="0">
                <a:solidFill>
                  <a:srgbClr val="202A28"/>
                </a:solidFill>
                <a:latin typeface="Helvetica Neue"/>
                <a:ea typeface="Helvetica Neue"/>
                <a:cs typeface="Helvetica Neue"/>
              </a:rPr>
              <a:t>During launch: channel checks and real feedback</a:t>
            </a:r>
          </a:p>
        </p:txBody>
      </p:sp>
      <p:sp>
        <p:nvSpPr>
          <p:cNvPr id="4" name="">
            <a:extLst xmlns:a="http://schemas.openxmlformats.org/drawingml/2006/main">
              <a:ext uri="{FF2B5EF4-FFF2-40B4-BE49-F238E27FC236}">
                <a16:creationId xmlns:a16="http://schemas.microsoft.com/office/drawing/2014/main" id="{CDC7124A-E052-4888-831C-6703B65CE7E5}"/>
              </a:ext>
            </a:extLst>
          </p:cNvPr>
          <p:cNvSpPr>
            <a:spLocks xmlns:a="http://schemas.openxmlformats.org/drawingml/2006/main" noGrp="1"/>
          </p:cNvSpPr>
          <p:nvPr/>
        </p:nvSpPr>
        <p:spPr>
          <a:xfrm xmlns:a="http://schemas.openxmlformats.org/drawingml/2006/main">
            <a:off x="685800" y="37528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2A28"/>
                </a:solidFill>
                <a:latin typeface="Helvetica Neue"/>
                <a:ea typeface="Helvetica Neue"/>
                <a:cs typeface="Helvetica Neue"/>
              </a:defRPr>
            </a:pPr>
            <a:r>
              <a:rPr sz="2475" b="0">
                <a:solidFill>
                  <a:srgbClr val="202A28"/>
                </a:solidFill>
                <a:latin typeface="Helvetica Neue"/>
                <a:ea typeface="Helvetica Neue"/>
                <a:cs typeface="Helvetica Neue"/>
              </a:rPr>
              <a:t>After launch: outcomes and the next experiment</a:t>
            </a:r>
          </a:p>
        </p:txBody>
      </p:sp>
      <p:sp>
        <p:nvSpPr>
          <p:cNvPr id="5" name="">
            <a:extLst xmlns:a="http://schemas.openxmlformats.org/drawingml/2006/main">
              <a:ext uri="{FF2B5EF4-FFF2-40B4-BE49-F238E27FC236}">
                <a16:creationId xmlns:a16="http://schemas.microsoft.com/office/drawing/2014/main" id="{07646E59-A678-44CD-B701-400C10775211}"/>
              </a:ext>
            </a:extLst>
          </p:cNvPr>
          <p:cNvSpPr>
            <a:spLocks xmlns:a="http://schemas.openxmlformats.org/drawingml/2006/main" noGrp="1"/>
          </p:cNvSpPr>
          <p:nvPr/>
        </p:nvSpPr>
        <p:spPr>
          <a:xfrm xmlns:a="http://schemas.openxmlformats.org/drawingml/2006/main">
            <a:off x="685800" y="55435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E6C63"/>
                </a:solidFill>
                <a:latin typeface="Helvetica Neue"/>
                <a:ea typeface="Helvetica Neue"/>
                <a:cs typeface="Helvetica Neue"/>
              </a:defRPr>
            </a:pPr>
            <a:r>
              <a:rPr sz="1575" b="0">
                <a:solidFill>
                  <a:srgbClr val="5E6C63"/>
                </a:solidFill>
                <a:latin typeface="Helvetica Neue"/>
                <a:ea typeface="Helvetica Neue"/>
                <a:cs typeface="Helvetica Neue"/>
              </a:rPr>
              <a:t>Proposed next phase. No live campaign results yet.</a:t>
            </a:r>
          </a:p>
        </p:txBody>
      </p:sp>
      <p:sp>
        <p:nvSpPr>
          <p:cNvPr id="6" name="">
            <a:extLst xmlns:a="http://schemas.openxmlformats.org/drawingml/2006/main">
              <a:ext uri="{FF2B5EF4-FFF2-40B4-BE49-F238E27FC236}">
                <a16:creationId xmlns:a16="http://schemas.microsoft.com/office/drawing/2014/main" id="{6A05F4C9-A386-4DDE-8CFE-2F18F703497B}"/>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07</a:t>
            </a:r>
          </a:p>
        </p:txBody>
      </p:sp>
    </p:spTree>
    <p:extLst>
      <p:ext uri="{BB962C8B-B14F-4D97-AF65-F5344CB8AC3E}">
        <p14:creationId xmlns:p14="http://schemas.microsoft.com/office/powerpoint/2010/main" val="1600242737"/>
      </p:ext>
    </p:extLst>
  </p:cSld>
</p:sld>
</file>

<file path=ppt/slides/slide8.xml><?xml version="1.0" encoding="utf-8"?>
<p:sld xmlns:p="http://schemas.openxmlformats.org/presentationml/2006/main">
  <p:cSld>
    <p:bg>
      <p:bgPr>
        <a:solidFill xmlns:a="http://schemas.openxmlformats.org/drawingml/2006/main">
          <a:srgbClr val="29483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1FB679-78CB-4234-B36F-1F79ED62C071}"/>
              </a:ext>
            </a:extLst>
          </p:cNvPr>
          <p:cNvSpPr>
            <a:spLocks xmlns:a="http://schemas.openxmlformats.org/drawingml/2006/main" noGrp="1"/>
          </p:cNvSpPr>
          <p:nvPr/>
        </p:nvSpPr>
        <p:spPr>
          <a:xfrm xmlns:a="http://schemas.openxmlformats.org/drawingml/2006/main">
            <a:off x="666750" y="590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8F5EE"/>
                </a:solidFill>
                <a:latin typeface="Helvetica Neue"/>
                <a:ea typeface="Helvetica Neue"/>
                <a:cs typeface="Helvetica Neue"/>
              </a:defRPr>
            </a:pPr>
            <a:r>
              <a:rPr sz="3300" b="1">
                <a:solidFill>
                  <a:srgbClr val="F8F5EE"/>
                </a:solidFill>
                <a:latin typeface="Helvetica Neue"/>
                <a:ea typeface="Helvetica Neue"/>
                <a:cs typeface="Helvetica Neue"/>
              </a:rPr>
              <a:t>What I would repeat</a:t>
            </a:r>
          </a:p>
        </p:txBody>
      </p:sp>
      <p:sp>
        <p:nvSpPr>
          <p:cNvPr id="2" name="">
            <a:extLst xmlns:a="http://schemas.openxmlformats.org/drawingml/2006/main">
              <a:ext uri="{FF2B5EF4-FFF2-40B4-BE49-F238E27FC236}">
                <a16:creationId xmlns:a16="http://schemas.microsoft.com/office/drawing/2014/main" id="{C4338314-2F04-4103-BC00-476E47EC613C}"/>
              </a:ext>
            </a:extLst>
          </p:cNvPr>
          <p:cNvSpPr>
            <a:spLocks xmlns:a="http://schemas.openxmlformats.org/drawingml/2006/main" noGrp="1"/>
          </p:cNvSpPr>
          <p:nvPr/>
        </p:nvSpPr>
        <p:spPr>
          <a:xfrm xmlns:a="http://schemas.openxmlformats.org/drawingml/2006/main">
            <a:off x="666750" y="220980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8F5EE"/>
                </a:solidFill>
                <a:latin typeface="Helvetica Neue"/>
                <a:ea typeface="Helvetica Neue"/>
                <a:cs typeface="Helvetica Neue"/>
              </a:defRPr>
            </a:pPr>
            <a:r>
              <a:rPr sz="4275" b="1">
                <a:solidFill>
                  <a:srgbClr val="F8F5EE"/>
                </a:solidFill>
                <a:latin typeface="Helvetica Neue"/>
                <a:ea typeface="Helvetica Neue"/>
                <a:cs typeface="Helvetica Neue"/>
              </a:rPr>
              <a:t>Originate</a:t>
            </a:r>
          </a:p>
        </p:txBody>
      </p:sp>
      <p:sp>
        <p:nvSpPr>
          <p:cNvPr id="3" name="">
            <a:extLst xmlns:a="http://schemas.openxmlformats.org/drawingml/2006/main">
              <a:ext uri="{FF2B5EF4-FFF2-40B4-BE49-F238E27FC236}">
                <a16:creationId xmlns:a16="http://schemas.microsoft.com/office/drawing/2014/main" id="{717A2F8D-54B6-4DD1-9DFE-6F7E8278F7DD}"/>
              </a:ext>
            </a:extLst>
          </p:cNvPr>
          <p:cNvSpPr>
            <a:spLocks xmlns:a="http://schemas.openxmlformats.org/drawingml/2006/main" noGrp="1"/>
          </p:cNvSpPr>
          <p:nvPr/>
        </p:nvSpPr>
        <p:spPr>
          <a:xfrm xmlns:a="http://schemas.openxmlformats.org/drawingml/2006/main">
            <a:off x="4286250" y="220980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8F5EE"/>
                </a:solidFill>
                <a:latin typeface="Helvetica Neue"/>
                <a:ea typeface="Helvetica Neue"/>
                <a:cs typeface="Helvetica Neue"/>
              </a:defRPr>
            </a:pPr>
            <a:r>
              <a:rPr sz="4275" b="1">
                <a:solidFill>
                  <a:srgbClr val="F8F5EE"/>
                </a:solidFill>
                <a:latin typeface="Helvetica Neue"/>
                <a:ea typeface="Helvetica Neue"/>
                <a:cs typeface="Helvetica Neue"/>
              </a:rPr>
              <a:t>Run</a:t>
            </a:r>
          </a:p>
        </p:txBody>
      </p:sp>
      <p:sp>
        <p:nvSpPr>
          <p:cNvPr id="4" name="">
            <a:extLst xmlns:a="http://schemas.openxmlformats.org/drawingml/2006/main">
              <a:ext uri="{FF2B5EF4-FFF2-40B4-BE49-F238E27FC236}">
                <a16:creationId xmlns:a16="http://schemas.microsoft.com/office/drawing/2014/main" id="{850FB5EE-6F06-43FA-8577-E64DC497E842}"/>
              </a:ext>
            </a:extLst>
          </p:cNvPr>
          <p:cNvSpPr>
            <a:spLocks xmlns:a="http://schemas.openxmlformats.org/drawingml/2006/main" noGrp="1"/>
          </p:cNvSpPr>
          <p:nvPr/>
        </p:nvSpPr>
        <p:spPr>
          <a:xfrm xmlns:a="http://schemas.openxmlformats.org/drawingml/2006/main">
            <a:off x="7905750" y="220980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8F5EE"/>
                </a:solidFill>
                <a:latin typeface="Helvetica Neue"/>
                <a:ea typeface="Helvetica Neue"/>
                <a:cs typeface="Helvetica Neue"/>
              </a:defRPr>
            </a:pPr>
            <a:r>
              <a:rPr sz="4275" b="1">
                <a:solidFill>
                  <a:srgbClr val="F8F5EE"/>
                </a:solidFill>
                <a:latin typeface="Helvetica Neue"/>
                <a:ea typeface="Helvetica Neue"/>
                <a:cs typeface="Helvetica Neue"/>
              </a:rPr>
              <a:t>Steer</a:t>
            </a:r>
          </a:p>
        </p:txBody>
      </p:sp>
      <p:sp>
        <p:nvSpPr>
          <p:cNvPr id="5" name="">
            <a:extLst xmlns:a="http://schemas.openxmlformats.org/drawingml/2006/main">
              <a:ext uri="{FF2B5EF4-FFF2-40B4-BE49-F238E27FC236}">
                <a16:creationId xmlns:a16="http://schemas.microsoft.com/office/drawing/2014/main" id="{E2EB1257-FFA7-453E-9881-D84B47E17240}"/>
              </a:ext>
            </a:extLst>
          </p:cNvPr>
          <p:cNvSpPr>
            <a:spLocks xmlns:a="http://schemas.openxmlformats.org/drawingml/2006/main" noGrp="1"/>
          </p:cNvSpPr>
          <p:nvPr/>
        </p:nvSpPr>
        <p:spPr>
          <a:xfrm xmlns:a="http://schemas.openxmlformats.org/drawingml/2006/main">
            <a:off x="685800" y="4038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8F5EE"/>
                </a:solidFill>
                <a:latin typeface="Helvetica Neue"/>
                <a:ea typeface="Helvetica Neue"/>
                <a:cs typeface="Helvetica Neue"/>
              </a:defRPr>
            </a:pPr>
            <a:r>
              <a:rPr sz="2550" b="0">
                <a:solidFill>
                  <a:srgbClr val="F8F5EE"/>
                </a:solidFill>
                <a:latin typeface="Helvetica Neue"/>
                <a:ea typeface="Helvetica Neue"/>
                <a:cs typeface="Helvetica Neue"/>
              </a:rPr>
              <a:t>Save the useful corrections. Test the workflow again.</a:t>
            </a:r>
          </a:p>
        </p:txBody>
      </p:sp>
      <p:sp>
        <p:nvSpPr>
          <p:cNvPr id="6" name="">
            <a:extLst xmlns:a="http://schemas.openxmlformats.org/drawingml/2006/main">
              <a:ext uri="{FF2B5EF4-FFF2-40B4-BE49-F238E27FC236}">
                <a16:creationId xmlns:a16="http://schemas.microsoft.com/office/drawing/2014/main" id="{C1354737-12B2-4D04-B8A4-D9770050E0A7}"/>
              </a:ext>
            </a:extLst>
          </p:cNvPr>
          <p:cNvSpPr>
            <a:spLocks xmlns:a="http://schemas.openxmlformats.org/drawingml/2006/main" noGrp="1"/>
          </p:cNvSpPr>
          <p:nvPr/>
        </p:nvSpPr>
        <p:spPr>
          <a:xfrm xmlns:a="http://schemas.openxmlformats.org/drawingml/2006/main">
            <a:off x="685800" y="5743575"/>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AD6CB"/>
                </a:solidFill>
                <a:latin typeface="Helvetica Neue"/>
                <a:ea typeface="Helvetica Neue"/>
                <a:cs typeface="Helvetica Neue"/>
              </a:defRPr>
            </a:pPr>
            <a:r>
              <a:rPr sz="1500" b="0">
                <a:solidFill>
                  <a:srgbClr val="CAD6CB"/>
                </a:solidFill>
                <a:latin typeface="Helvetica Neue"/>
                <a:ea typeface="Helvetica Neue"/>
                <a:cs typeface="Helvetica Neue"/>
              </a:rPr>
              <a:t>Reusable skills, templates, and launch plan in the companion repository</a:t>
            </a:r>
          </a:p>
        </p:txBody>
      </p:sp>
      <p:sp>
        <p:nvSpPr>
          <p:cNvPr id="7" name="">
            <a:extLst xmlns:a="http://schemas.openxmlformats.org/drawingml/2006/main">
              <a:ext uri="{FF2B5EF4-FFF2-40B4-BE49-F238E27FC236}">
                <a16:creationId xmlns:a16="http://schemas.microsoft.com/office/drawing/2014/main" id="{A750AD27-A6C6-4060-9C71-0CDBB46DB385}"/>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CAD6CB"/>
                </a:solidFill>
                <a:latin typeface="Helvetica Neue"/>
                <a:ea typeface="Helvetica Neue"/>
                <a:cs typeface="Helvetica Neue"/>
              </a:defRPr>
            </a:pPr>
            <a:r>
              <a:rPr sz="900" b="0">
                <a:solidFill>
                  <a:srgbClr val="CAD6CB"/>
                </a:solidFill>
                <a:latin typeface="Helvetica Neue"/>
                <a:ea typeface="Helvetica Neue"/>
                <a:cs typeface="Helvetica Neue"/>
              </a:rPr>
              <a:t>08</a:t>
            </a:r>
          </a:p>
        </p:txBody>
      </p:sp>
    </p:spTree>
    <p:extLst>
      <p:ext uri="{BB962C8B-B14F-4D97-AF65-F5344CB8AC3E}">
        <p14:creationId xmlns:p14="http://schemas.microsoft.com/office/powerpoint/2010/main" val="111882308"/>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757AC1-0802-45C5-B7F9-580435F9A774}"/>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Appendix: the tools serve different roles</a:t>
            </a:r>
          </a:p>
        </p:txBody>
      </p:sp>
      <p:sp>
        <p:nvSpPr>
          <p:cNvPr id="2" name="">
            <a:extLst xmlns:a="http://schemas.openxmlformats.org/drawingml/2006/main">
              <a:ext uri="{FF2B5EF4-FFF2-40B4-BE49-F238E27FC236}">
                <a16:creationId xmlns:a16="http://schemas.microsoft.com/office/drawing/2014/main" id="{ADD87BD4-A2AB-41C9-AE0C-6A77036EBC03}"/>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Project  /  Campaign context and files</a:t>
            </a:r>
          </a:p>
        </p:txBody>
      </p:sp>
      <p:sp>
        <p:nvSpPr>
          <p:cNvPr id="3" name="">
            <a:extLst xmlns:a="http://schemas.openxmlformats.org/drawingml/2006/main">
              <a:ext uri="{FF2B5EF4-FFF2-40B4-BE49-F238E27FC236}">
                <a16:creationId xmlns:a16="http://schemas.microsoft.com/office/drawing/2014/main" id="{6A05C927-8B36-4D00-9123-5BC09426BA38}"/>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Chat  /  Discussion and iteration</a:t>
            </a:r>
          </a:p>
        </p:txBody>
      </p:sp>
      <p:sp>
        <p:nvSpPr>
          <p:cNvPr id="4" name="">
            <a:extLst xmlns:a="http://schemas.openxmlformats.org/drawingml/2006/main">
              <a:ext uri="{FF2B5EF4-FFF2-40B4-BE49-F238E27FC236}">
                <a16:creationId xmlns:a16="http://schemas.microsoft.com/office/drawing/2014/main" id="{176F0352-0C59-4EA8-8FF8-82D3C0443DCE}"/>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Skill  /  Instructions for a repeatable task</a:t>
            </a:r>
          </a:p>
        </p:txBody>
      </p:sp>
      <p:sp>
        <p:nvSpPr>
          <p:cNvPr id="5" name="">
            <a:extLst xmlns:a="http://schemas.openxmlformats.org/drawingml/2006/main">
              <a:ext uri="{FF2B5EF4-FFF2-40B4-BE49-F238E27FC236}">
                <a16:creationId xmlns:a16="http://schemas.microsoft.com/office/drawing/2014/main" id="{71A0C743-7297-4ECA-8911-7877161D2D66}"/>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Agent  /  A system that can choose actions and use tools</a:t>
            </a:r>
          </a:p>
        </p:txBody>
      </p:sp>
      <p:sp>
        <p:nvSpPr>
          <p:cNvPr id="6" name="">
            <a:extLst xmlns:a="http://schemas.openxmlformats.org/drawingml/2006/main">
              <a:ext uri="{FF2B5EF4-FFF2-40B4-BE49-F238E27FC236}">
                <a16:creationId xmlns:a16="http://schemas.microsoft.com/office/drawing/2014/main" id="{13C830C9-964E-458E-B05B-95E98B5022C8}"/>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A skill file alone does not schedule work or connect accounts.</a:t>
            </a:r>
          </a:p>
        </p:txBody>
      </p:sp>
      <p:sp>
        <p:nvSpPr>
          <p:cNvPr id="7" name="">
            <a:extLst xmlns:a="http://schemas.openxmlformats.org/drawingml/2006/main">
              <a:ext uri="{FF2B5EF4-FFF2-40B4-BE49-F238E27FC236}">
                <a16:creationId xmlns:a16="http://schemas.microsoft.com/office/drawing/2014/main" id="{E552C529-7EA6-4FE9-A767-93A39B186915}"/>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09  /  APPENDIX</a:t>
            </a:r>
          </a:p>
        </p:txBody>
      </p:sp>
    </p:spTree>
    <p:extLst>
      <p:ext uri="{BB962C8B-B14F-4D97-AF65-F5344CB8AC3E}">
        <p14:creationId xmlns:p14="http://schemas.microsoft.com/office/powerpoint/2010/main" val="2099884104"/>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AC3E1F-8E14-43C2-ABFA-D07048503D29}"/>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Building a skill in chat</a:t>
            </a:r>
          </a:p>
        </p:txBody>
      </p:sp>
      <p:sp>
        <p:nvSpPr>
          <p:cNvPr id="2" name="">
            <a:extLst xmlns:a="http://schemas.openxmlformats.org/drawingml/2006/main">
              <a:ext uri="{FF2B5EF4-FFF2-40B4-BE49-F238E27FC236}">
                <a16:creationId xmlns:a16="http://schemas.microsoft.com/office/drawing/2014/main" id="{DFAFABEE-E451-443C-B70D-BED5BAD8443E}"/>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1  Run one real task with an approved brief</a:t>
            </a:r>
          </a:p>
        </p:txBody>
      </p:sp>
      <p:sp>
        <p:nvSpPr>
          <p:cNvPr id="3" name="">
            <a:extLst xmlns:a="http://schemas.openxmlformats.org/drawingml/2006/main">
              <a:ext uri="{FF2B5EF4-FFF2-40B4-BE49-F238E27FC236}">
                <a16:creationId xmlns:a16="http://schemas.microsoft.com/office/drawing/2014/main" id="{9C1168FC-7E0C-4C04-95FA-4AEBF1852FFA}"/>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2  Correct the draft and record why</a:t>
            </a:r>
          </a:p>
        </p:txBody>
      </p:sp>
      <p:sp>
        <p:nvSpPr>
          <p:cNvPr id="4" name="">
            <a:extLst xmlns:a="http://schemas.openxmlformats.org/drawingml/2006/main">
              <a:ext uri="{FF2B5EF4-FFF2-40B4-BE49-F238E27FC236}">
                <a16:creationId xmlns:a16="http://schemas.microsoft.com/office/drawing/2014/main" id="{D87EFAC4-DCCF-42BC-A5F5-94CA4473D772}"/>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3  Distill the reusable steps into SKILL.md</a:t>
            </a:r>
          </a:p>
        </p:txBody>
      </p:sp>
      <p:sp>
        <p:nvSpPr>
          <p:cNvPr id="5" name="">
            <a:extLst xmlns:a="http://schemas.openxmlformats.org/drawingml/2006/main">
              <a:ext uri="{FF2B5EF4-FFF2-40B4-BE49-F238E27FC236}">
                <a16:creationId xmlns:a16="http://schemas.microsoft.com/office/drawing/2014/main" id="{8E9AD33D-BFF0-4D1B-A67D-C7BD41647D4B}"/>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4  Try a new case and a difficult case</a:t>
            </a:r>
          </a:p>
        </p:txBody>
      </p:sp>
      <p:sp>
        <p:nvSpPr>
          <p:cNvPr id="6" name="">
            <a:extLst xmlns:a="http://schemas.openxmlformats.org/drawingml/2006/main">
              <a:ext uri="{FF2B5EF4-FFF2-40B4-BE49-F238E27FC236}">
                <a16:creationId xmlns:a16="http://schemas.microsoft.com/office/drawing/2014/main" id="{5A4321B2-3758-4083-BE18-7266F3495281}"/>
              </a:ext>
            </a:extLst>
          </p:cNvPr>
          <p:cNvSpPr>
            <a:spLocks xmlns:a="http://schemas.openxmlformats.org/drawingml/2006/main" noGrp="1"/>
          </p:cNvSpPr>
          <p:nvPr/>
        </p:nvSpPr>
        <p:spPr>
          <a:xfrm xmlns:a="http://schemas.openxmlformats.org/drawingml/2006/main">
            <a:off x="685800" y="46767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5  Keep a version and a failure log</a:t>
            </a:r>
          </a:p>
        </p:txBody>
      </p:sp>
      <p:sp>
        <p:nvSpPr>
          <p:cNvPr id="7" name="">
            <a:extLst xmlns:a="http://schemas.openxmlformats.org/drawingml/2006/main">
              <a:ext uri="{FF2B5EF4-FFF2-40B4-BE49-F238E27FC236}">
                <a16:creationId xmlns:a16="http://schemas.microsoft.com/office/drawing/2014/main" id="{B86D961F-BA01-476C-B77C-A07C8C32D2EA}"/>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A creator can draft the file. People still evaluate its behavior.</a:t>
            </a:r>
          </a:p>
        </p:txBody>
      </p:sp>
      <p:sp>
        <p:nvSpPr>
          <p:cNvPr id="8" name="">
            <a:extLst xmlns:a="http://schemas.openxmlformats.org/drawingml/2006/main">
              <a:ext uri="{FF2B5EF4-FFF2-40B4-BE49-F238E27FC236}">
                <a16:creationId xmlns:a16="http://schemas.microsoft.com/office/drawing/2014/main" id="{C560E196-0220-4DED-88E9-59D0EBDC848F}"/>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10  /  APPENDIX</a:t>
            </a:r>
          </a:p>
        </p:txBody>
      </p:sp>
    </p:spTree>
    <p:extLst>
      <p:ext uri="{BB962C8B-B14F-4D97-AF65-F5344CB8AC3E}">
        <p14:creationId xmlns:p14="http://schemas.microsoft.com/office/powerpoint/2010/main" val="144282086"/>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331270-2815-4364-806A-4A8A822539B1}"/>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What we exercised in this project</a:t>
            </a:r>
          </a:p>
        </p:txBody>
      </p:sp>
      <p:sp>
        <p:nvSpPr>
          <p:cNvPr id="2" name="">
            <a:extLst xmlns:a="http://schemas.openxmlformats.org/drawingml/2006/main">
              <a:ext uri="{FF2B5EF4-FFF2-40B4-BE49-F238E27FC236}">
                <a16:creationId xmlns:a16="http://schemas.microsoft.com/office/drawing/2014/main" id="{EF0E589F-EEBE-41CE-886B-B58EA5DD2B5B}"/>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Pressure-testing: audience and partner value</a:t>
            </a:r>
          </a:p>
        </p:txBody>
      </p:sp>
      <p:sp>
        <p:nvSpPr>
          <p:cNvPr id="3" name="">
            <a:extLst xmlns:a="http://schemas.openxmlformats.org/drawingml/2006/main">
              <a:ext uri="{FF2B5EF4-FFF2-40B4-BE49-F238E27FC236}">
                <a16:creationId xmlns:a16="http://schemas.microsoft.com/office/drawing/2014/main" id="{67EA43A5-A0B5-485B-A757-FBC077608868}"/>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Concept expansion: hotel experience and collection</a:t>
            </a:r>
          </a:p>
        </p:txBody>
      </p:sp>
      <p:sp>
        <p:nvSpPr>
          <p:cNvPr id="4" name="">
            <a:extLst xmlns:a="http://schemas.openxmlformats.org/drawingml/2006/main">
              <a:ext uri="{FF2B5EF4-FFF2-40B4-BE49-F238E27FC236}">
                <a16:creationId xmlns:a16="http://schemas.microsoft.com/office/drawing/2014/main" id="{D4477CDA-433D-423B-BC0B-3C06C71431B5}"/>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Ad adaptation: references, format, and feed fit</a:t>
            </a:r>
          </a:p>
        </p:txBody>
      </p:sp>
      <p:sp>
        <p:nvSpPr>
          <p:cNvPr id="5" name="">
            <a:extLst xmlns:a="http://schemas.openxmlformats.org/drawingml/2006/main">
              <a:ext uri="{FF2B5EF4-FFF2-40B4-BE49-F238E27FC236}">
                <a16:creationId xmlns:a16="http://schemas.microsoft.com/office/drawing/2014/main" id="{CE345A55-529A-4050-BFC3-3C7D8CF9A918}"/>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Observed in chats and artifacts. No controlled skill benchmark.</a:t>
            </a:r>
          </a:p>
        </p:txBody>
      </p:sp>
      <p:sp>
        <p:nvSpPr>
          <p:cNvPr id="6" name="">
            <a:extLst xmlns:a="http://schemas.openxmlformats.org/drawingml/2006/main">
              <a:ext uri="{FF2B5EF4-FFF2-40B4-BE49-F238E27FC236}">
                <a16:creationId xmlns:a16="http://schemas.microsoft.com/office/drawing/2014/main" id="{B4D21564-350D-4172-A381-F961251BF506}"/>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11  /  APPENDIX</a:t>
            </a:r>
          </a:p>
        </p:txBody>
      </p:sp>
    </p:spTree>
    <p:extLst>
      <p:ext uri="{BB962C8B-B14F-4D97-AF65-F5344CB8AC3E}">
        <p14:creationId xmlns:p14="http://schemas.microsoft.com/office/powerpoint/2010/main" val="486961361"/>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09BEF2-A698-4865-87C1-8638C9EF1747}"/>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New skills for the live phase</a:t>
            </a:r>
          </a:p>
        </p:txBody>
      </p:sp>
      <p:sp>
        <p:nvSpPr>
          <p:cNvPr id="2" name="">
            <a:extLst xmlns:a="http://schemas.openxmlformats.org/drawingml/2006/main">
              <a:ext uri="{FF2B5EF4-FFF2-40B4-BE49-F238E27FC236}">
                <a16:creationId xmlns:a16="http://schemas.microsoft.com/office/drawing/2014/main" id="{C0A3C83B-DAA4-482E-B813-43F8736FD761}"/>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Audience evidence: sourced questions and objections</a:t>
            </a:r>
          </a:p>
        </p:txBody>
      </p:sp>
      <p:sp>
        <p:nvSpPr>
          <p:cNvPr id="3" name="">
            <a:extLst xmlns:a="http://schemas.openxmlformats.org/drawingml/2006/main">
              <a:ext uri="{FF2B5EF4-FFF2-40B4-BE49-F238E27FC236}">
                <a16:creationId xmlns:a16="http://schemas.microsoft.com/office/drawing/2014/main" id="{6614ACCC-4D10-40A2-9EBB-0D4EBF37E3F9}"/>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Experiment planning: fair comparison and decision rules</a:t>
            </a:r>
          </a:p>
        </p:txBody>
      </p:sp>
      <p:sp>
        <p:nvSpPr>
          <p:cNvPr id="4" name="">
            <a:extLst xmlns:a="http://schemas.openxmlformats.org/drawingml/2006/main">
              <a:ext uri="{FF2B5EF4-FFF2-40B4-BE49-F238E27FC236}">
                <a16:creationId xmlns:a16="http://schemas.microsoft.com/office/drawing/2014/main" id="{C6B286E9-066E-4CA0-88B9-9A964716B3A2}"/>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Channel operations: readiness and response queues</a:t>
            </a:r>
          </a:p>
        </p:txBody>
      </p:sp>
      <p:sp>
        <p:nvSpPr>
          <p:cNvPr id="5" name="">
            <a:extLst xmlns:a="http://schemas.openxmlformats.org/drawingml/2006/main">
              <a:ext uri="{FF2B5EF4-FFF2-40B4-BE49-F238E27FC236}">
                <a16:creationId xmlns:a16="http://schemas.microsoft.com/office/drawing/2014/main" id="{708799A2-4CAA-4CBC-B3CE-D8DF0575BDBC}"/>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Launch review: product facts, assets, and owners</a:t>
            </a:r>
          </a:p>
        </p:txBody>
      </p:sp>
      <p:sp>
        <p:nvSpPr>
          <p:cNvPr id="6" name="">
            <a:extLst xmlns:a="http://schemas.openxmlformats.org/drawingml/2006/main">
              <a:ext uri="{FF2B5EF4-FFF2-40B4-BE49-F238E27FC236}">
                <a16:creationId xmlns:a16="http://schemas.microsoft.com/office/drawing/2014/main" id="{6C91B575-3FC4-4C95-BCCD-C1F865CA94D5}"/>
              </a:ext>
            </a:extLst>
          </p:cNvPr>
          <p:cNvSpPr>
            <a:spLocks xmlns:a="http://schemas.openxmlformats.org/drawingml/2006/main" noGrp="1"/>
          </p:cNvSpPr>
          <p:nvPr/>
        </p:nvSpPr>
        <p:spPr>
          <a:xfrm xmlns:a="http://schemas.openxmlformats.org/drawingml/2006/main">
            <a:off x="685800" y="46767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Skill review: repeatable cases and error checks</a:t>
            </a:r>
          </a:p>
        </p:txBody>
      </p:sp>
      <p:sp>
        <p:nvSpPr>
          <p:cNvPr id="7" name="">
            <a:extLst xmlns:a="http://schemas.openxmlformats.org/drawingml/2006/main">
              <a:ext uri="{FF2B5EF4-FFF2-40B4-BE49-F238E27FC236}">
                <a16:creationId xmlns:a16="http://schemas.microsoft.com/office/drawing/2014/main" id="{CF7AB3ED-59D1-41EC-8B68-B498E34B0EB1}"/>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New drafts based on readings and this case. Not live-validated.</a:t>
            </a:r>
          </a:p>
        </p:txBody>
      </p:sp>
      <p:sp>
        <p:nvSpPr>
          <p:cNvPr id="8" name="">
            <a:extLst xmlns:a="http://schemas.openxmlformats.org/drawingml/2006/main">
              <a:ext uri="{FF2B5EF4-FFF2-40B4-BE49-F238E27FC236}">
                <a16:creationId xmlns:a16="http://schemas.microsoft.com/office/drawing/2014/main" id="{9103178F-3772-4FB4-96A5-3A0F789B4AC0}"/>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12  /  APPENDIX</a:t>
            </a:r>
          </a:p>
        </p:txBody>
      </p:sp>
    </p:spTree>
    <p:extLst>
      <p:ext uri="{BB962C8B-B14F-4D97-AF65-F5344CB8AC3E}">
        <p14:creationId xmlns:p14="http://schemas.microsoft.com/office/powerpoint/2010/main" val="1379401102"/>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29BFA1-E522-4FD2-92FD-CFACE5A95C65}"/>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Testing the campaign</a:t>
            </a:r>
          </a:p>
        </p:txBody>
      </p:sp>
      <p:sp>
        <p:nvSpPr>
          <p:cNvPr id="2" name="">
            <a:extLst xmlns:a="http://schemas.openxmlformats.org/drawingml/2006/main">
              <a:ext uri="{FF2B5EF4-FFF2-40B4-BE49-F238E27FC236}">
                <a16:creationId xmlns:a16="http://schemas.microsoft.com/office/drawing/2014/main" id="{01FA9755-D6E2-45DB-920B-DE7E71CDDFF8}"/>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Question: which message earns sample requests?</a:t>
            </a:r>
          </a:p>
        </p:txBody>
      </p:sp>
      <p:sp>
        <p:nvSpPr>
          <p:cNvPr id="3" name="">
            <a:extLst xmlns:a="http://schemas.openxmlformats.org/drawingml/2006/main">
              <a:ext uri="{FF2B5EF4-FFF2-40B4-BE49-F238E27FC236}">
                <a16:creationId xmlns:a16="http://schemas.microsoft.com/office/drawing/2014/main" id="{95A33664-7178-42BF-8275-D7B5045EE789}"/>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Change: copy angle only; hold the creative fixed</a:t>
            </a:r>
          </a:p>
        </p:txBody>
      </p:sp>
      <p:sp>
        <p:nvSpPr>
          <p:cNvPr id="4" name="">
            <a:extLst xmlns:a="http://schemas.openxmlformats.org/drawingml/2006/main">
              <a:ext uri="{FF2B5EF4-FFF2-40B4-BE49-F238E27FC236}">
                <a16:creationId xmlns:a16="http://schemas.microsoft.com/office/drawing/2014/main" id="{8C9361AA-6A78-426D-A11F-300030F7531E}"/>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Design: random assignment where feasible</a:t>
            </a:r>
          </a:p>
        </p:txBody>
      </p:sp>
      <p:sp>
        <p:nvSpPr>
          <p:cNvPr id="5" name="">
            <a:extLst xmlns:a="http://schemas.openxmlformats.org/drawingml/2006/main">
              <a:ext uri="{FF2B5EF4-FFF2-40B4-BE49-F238E27FC236}">
                <a16:creationId xmlns:a16="http://schemas.microsoft.com/office/drawing/2014/main" id="{0F038AA8-364F-4A69-9EDA-596BB63E2165}"/>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Decision: sufficient data, uncertainty, and a guardrail</a:t>
            </a:r>
          </a:p>
        </p:txBody>
      </p:sp>
      <p:sp>
        <p:nvSpPr>
          <p:cNvPr id="6" name="">
            <a:extLst xmlns:a="http://schemas.openxmlformats.org/drawingml/2006/main">
              <a:ext uri="{FF2B5EF4-FFF2-40B4-BE49-F238E27FC236}">
                <a16:creationId xmlns:a16="http://schemas.microsoft.com/office/drawing/2014/main" id="{371F4C71-7C07-40A7-A463-4040734D22B4}"/>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Organic channel comparisons are observational. Simulated reactions are exploratory.</a:t>
            </a:r>
          </a:p>
        </p:txBody>
      </p:sp>
      <p:sp>
        <p:nvSpPr>
          <p:cNvPr id="7" name="">
            <a:extLst xmlns:a="http://schemas.openxmlformats.org/drawingml/2006/main">
              <a:ext uri="{FF2B5EF4-FFF2-40B4-BE49-F238E27FC236}">
                <a16:creationId xmlns:a16="http://schemas.microsoft.com/office/drawing/2014/main" id="{795C07D7-9DE5-4FB6-A484-46F8D0962C10}"/>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13  /  APPENDIX</a:t>
            </a:r>
          </a:p>
        </p:txBody>
      </p:sp>
    </p:spTree>
    <p:extLst>
      <p:ext uri="{BB962C8B-B14F-4D97-AF65-F5344CB8AC3E}">
        <p14:creationId xmlns:p14="http://schemas.microsoft.com/office/powerpoint/2010/main" val="1484758061"/>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8DA5F1-8DC8-4A97-998F-922FBE1D627A}"/>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Measurement follows the business question</a:t>
            </a:r>
          </a:p>
        </p:txBody>
      </p:sp>
      <p:sp>
        <p:nvSpPr>
          <p:cNvPr id="2" name="">
            <a:extLst xmlns:a="http://schemas.openxmlformats.org/drawingml/2006/main">
              <a:ext uri="{FF2B5EF4-FFF2-40B4-BE49-F238E27FC236}">
                <a16:creationId xmlns:a16="http://schemas.microsoft.com/office/drawing/2014/main" id="{5B1B6914-C127-4646-9C80-24AC119D510B}"/>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Hotel pilot  /  Qualified inquiries and booking outcomes</a:t>
            </a:r>
          </a:p>
        </p:txBody>
      </p:sp>
      <p:sp>
        <p:nvSpPr>
          <p:cNvPr id="3" name="">
            <a:extLst xmlns:a="http://schemas.openxmlformats.org/drawingml/2006/main">
              <a:ext uri="{FF2B5EF4-FFF2-40B4-BE49-F238E27FC236}">
                <a16:creationId xmlns:a16="http://schemas.microsoft.com/office/drawing/2014/main" id="{FBB388EC-6007-4F6B-B70E-A5B7A0A471A4}"/>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Wallpaper  /  Sample requests, orders, and margin</a:t>
            </a:r>
          </a:p>
        </p:txBody>
      </p:sp>
      <p:sp>
        <p:nvSpPr>
          <p:cNvPr id="4" name="">
            <a:extLst xmlns:a="http://schemas.openxmlformats.org/drawingml/2006/main">
              <a:ext uri="{FF2B5EF4-FFF2-40B4-BE49-F238E27FC236}">
                <a16:creationId xmlns:a16="http://schemas.microsoft.com/office/drawing/2014/main" id="{28D20879-D737-4401-981C-0367BE5980B7}"/>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Content  /  Attention and qualified site visits</a:t>
            </a:r>
          </a:p>
        </p:txBody>
      </p:sp>
      <p:sp>
        <p:nvSpPr>
          <p:cNvPr id="5" name="">
            <a:extLst xmlns:a="http://schemas.openxmlformats.org/drawingml/2006/main">
              <a:ext uri="{FF2B5EF4-FFF2-40B4-BE49-F238E27FC236}">
                <a16:creationId xmlns:a16="http://schemas.microsoft.com/office/drawing/2014/main" id="{B2F1D333-D762-4BD6-B246-351CBBE95DB9}"/>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Workflow  /  Review time, rework, and factual errors</a:t>
            </a:r>
          </a:p>
        </p:txBody>
      </p:sp>
      <p:sp>
        <p:nvSpPr>
          <p:cNvPr id="6" name="">
            <a:extLst xmlns:a="http://schemas.openxmlformats.org/drawingml/2006/main">
              <a:ext uri="{FF2B5EF4-FFF2-40B4-BE49-F238E27FC236}">
                <a16:creationId xmlns:a16="http://schemas.microsoft.com/office/drawing/2014/main" id="{B9FADCE9-C568-4D5E-AF05-9386A57D57E2}"/>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Reported attribution and causal impact answer different questions.</a:t>
            </a:r>
          </a:p>
        </p:txBody>
      </p:sp>
      <p:sp>
        <p:nvSpPr>
          <p:cNvPr id="7" name="">
            <a:extLst xmlns:a="http://schemas.openxmlformats.org/drawingml/2006/main">
              <a:ext uri="{FF2B5EF4-FFF2-40B4-BE49-F238E27FC236}">
                <a16:creationId xmlns:a16="http://schemas.microsoft.com/office/drawing/2014/main" id="{F82950CA-5DE5-454A-9715-371F25B119B5}"/>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14  /  APPENDIX</a:t>
            </a:r>
          </a:p>
        </p:txBody>
      </p:sp>
    </p:spTree>
    <p:extLst>
      <p:ext uri="{BB962C8B-B14F-4D97-AF65-F5344CB8AC3E}">
        <p14:creationId xmlns:p14="http://schemas.microsoft.com/office/powerpoint/2010/main" val="995087201"/>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773662-372C-4BEC-B456-ADBCA677275A}"/>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A weekly operating rhythm</a:t>
            </a:r>
          </a:p>
        </p:txBody>
      </p:sp>
      <p:sp>
        <p:nvSpPr>
          <p:cNvPr id="2" name="">
            <a:extLst xmlns:a="http://schemas.openxmlformats.org/drawingml/2006/main">
              <a:ext uri="{FF2B5EF4-FFF2-40B4-BE49-F238E27FC236}">
                <a16:creationId xmlns:a16="http://schemas.microsoft.com/office/drawing/2014/main" id="{DAE720BD-3625-425D-BD02-AAF01D5E9505}"/>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A28"/>
                </a:solidFill>
                <a:latin typeface="Helvetica Neue"/>
                <a:ea typeface="Helvetica Neue"/>
                <a:cs typeface="Helvetica Neue"/>
              </a:defRPr>
            </a:pPr>
            <a:r>
              <a:rPr sz="2175" b="1">
                <a:solidFill>
                  <a:srgbClr val="202A28"/>
                </a:solidFill>
                <a:latin typeface="Helvetica Neue"/>
                <a:ea typeface="Helvetica Neue"/>
                <a:cs typeface="Helvetica Neue"/>
              </a:rPr>
              <a:t>Daily  /  Links, stock, delivery issues, comments</a:t>
            </a:r>
          </a:p>
        </p:txBody>
      </p:sp>
      <p:sp>
        <p:nvSpPr>
          <p:cNvPr id="3" name="">
            <a:extLst xmlns:a="http://schemas.openxmlformats.org/drawingml/2006/main">
              <a:ext uri="{FF2B5EF4-FFF2-40B4-BE49-F238E27FC236}">
                <a16:creationId xmlns:a16="http://schemas.microsoft.com/office/drawing/2014/main" id="{900FD99A-1D52-4046-B39A-67D1EA3B0FFD}"/>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Weekly  /  Reconciled data and content decisions</a:t>
            </a:r>
          </a:p>
        </p:txBody>
      </p:sp>
      <p:sp>
        <p:nvSpPr>
          <p:cNvPr id="4" name="">
            <a:extLst xmlns:a="http://schemas.openxmlformats.org/drawingml/2006/main">
              <a:ext uri="{FF2B5EF4-FFF2-40B4-BE49-F238E27FC236}">
                <a16:creationId xmlns:a16="http://schemas.microsoft.com/office/drawing/2014/main" id="{02D51BF2-8657-4B3C-BAA0-A0FEE79AD5F3}"/>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After a test  /  Readout and the next question</a:t>
            </a:r>
          </a:p>
        </p:txBody>
      </p:sp>
      <p:sp>
        <p:nvSpPr>
          <p:cNvPr id="5" name="">
            <a:extLst xmlns:a="http://schemas.openxmlformats.org/drawingml/2006/main">
              <a:ext uri="{FF2B5EF4-FFF2-40B4-BE49-F238E27FC236}">
                <a16:creationId xmlns:a16="http://schemas.microsoft.com/office/drawing/2014/main" id="{AF1BA61C-5B39-4E65-8302-DD4D890DA288}"/>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A28"/>
                </a:solidFill>
                <a:latin typeface="Helvetica Neue"/>
                <a:ea typeface="Helvetica Neue"/>
                <a:cs typeface="Helvetica Neue"/>
              </a:defRPr>
            </a:pPr>
            <a:r>
              <a:rPr sz="2175" b="0">
                <a:solidFill>
                  <a:srgbClr val="202A28"/>
                </a:solidFill>
                <a:latin typeface="Helvetica Neue"/>
                <a:ea typeface="Helvetica Neue"/>
                <a:cs typeface="Helvetica Neue"/>
              </a:rPr>
              <a:t>After a workflow change  /  Repeat saved cases</a:t>
            </a:r>
          </a:p>
        </p:txBody>
      </p:sp>
      <p:sp>
        <p:nvSpPr>
          <p:cNvPr id="6" name="">
            <a:extLst xmlns:a="http://schemas.openxmlformats.org/drawingml/2006/main">
              <a:ext uri="{FF2B5EF4-FFF2-40B4-BE49-F238E27FC236}">
                <a16:creationId xmlns:a16="http://schemas.microsoft.com/office/drawing/2014/main" id="{959A07C6-D334-4691-9FF6-FE8176D078FC}"/>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The marketer owns publishing, claims, customer replies, and spend decisions.</a:t>
            </a:r>
          </a:p>
        </p:txBody>
      </p:sp>
      <p:sp>
        <p:nvSpPr>
          <p:cNvPr id="7" name="">
            <a:extLst xmlns:a="http://schemas.openxmlformats.org/drawingml/2006/main">
              <a:ext uri="{FF2B5EF4-FFF2-40B4-BE49-F238E27FC236}">
                <a16:creationId xmlns:a16="http://schemas.microsoft.com/office/drawing/2014/main" id="{69DC866A-B36E-49E7-A3FC-B61183EB2EE2}"/>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15  /  APPENDIX</a:t>
            </a:r>
          </a:p>
        </p:txBody>
      </p:sp>
    </p:spTree>
    <p:extLst>
      <p:ext uri="{BB962C8B-B14F-4D97-AF65-F5344CB8AC3E}">
        <p14:creationId xmlns:p14="http://schemas.microsoft.com/office/powerpoint/2010/main" val="1901556515"/>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541C7D-45A2-4D26-AA5D-D3EF6EDC2C6B}"/>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The proposed feed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0632a791d5a4e8d"/>
          <a:stretch xmlns:a="http://schemas.openxmlformats.org/drawingml/2006/main"/>
        </p:blipFill>
        <p:spPr>
          <a:xfrm xmlns:a="http://schemas.openxmlformats.org/drawingml/2006/main">
            <a:off x="6866839" y="1257300"/>
            <a:ext cx="3849472" cy="4810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BCDFB2-97E1-46D1-93F1-237B5396E576}"/>
              </a:ext>
            </a:extLst>
          </p:cNvPr>
          <p:cNvSpPr>
            <a:spLocks xmlns:a="http://schemas.openxmlformats.org/drawingml/2006/main" noGrp="1"/>
          </p:cNvSpPr>
          <p:nvPr/>
        </p:nvSpPr>
        <p:spPr>
          <a:xfrm xmlns:a="http://schemas.openxmlformats.org/drawingml/2006/main">
            <a:off x="685800" y="207645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A28"/>
                </a:solidFill>
                <a:latin typeface="Helvetica Neue"/>
                <a:ea typeface="Helvetica Neue"/>
                <a:cs typeface="Helvetica Neue"/>
              </a:defRPr>
            </a:pPr>
            <a:r>
              <a:rPr sz="2700" b="1">
                <a:solidFill>
                  <a:srgbClr val="202A28"/>
                </a:solidFill>
                <a:latin typeface="Helvetica Neue"/>
                <a:ea typeface="Helvetica Neue"/>
                <a:cs typeface="Helvetica Neue"/>
              </a:rPr>
              <a:t>Art first</a:t>
            </a:r>
          </a:p>
        </p:txBody>
      </p:sp>
      <p:sp>
        <p:nvSpPr>
          <p:cNvPr id="4" name="">
            <a:extLst xmlns:a="http://schemas.openxmlformats.org/drawingml/2006/main">
              <a:ext uri="{FF2B5EF4-FFF2-40B4-BE49-F238E27FC236}">
                <a16:creationId xmlns:a16="http://schemas.microsoft.com/office/drawing/2014/main" id="{10A64D97-6F22-4E44-9791-6EA6B5EC9CDE}"/>
              </a:ext>
            </a:extLst>
          </p:cNvPr>
          <p:cNvSpPr>
            <a:spLocks xmlns:a="http://schemas.openxmlformats.org/drawingml/2006/main" noGrp="1"/>
          </p:cNvSpPr>
          <p:nvPr/>
        </p:nvSpPr>
        <p:spPr>
          <a:xfrm xmlns:a="http://schemas.openxmlformats.org/drawingml/2006/main">
            <a:off x="685800" y="2905125"/>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202A28"/>
                </a:solidFill>
                <a:latin typeface="Helvetica Neue"/>
                <a:ea typeface="Helvetica Neue"/>
                <a:cs typeface="Helvetica Neue"/>
              </a:defRPr>
            </a:pPr>
            <a:r>
              <a:rPr sz="2700" b="0">
                <a:solidFill>
                  <a:srgbClr val="202A28"/>
                </a:solidFill>
                <a:latin typeface="Helvetica Neue"/>
                <a:ea typeface="Helvetica Neue"/>
                <a:cs typeface="Helvetica Neue"/>
              </a:rPr>
              <a:t>Process alongside it</a:t>
            </a:r>
          </a:p>
        </p:txBody>
      </p:sp>
      <p:sp>
        <p:nvSpPr>
          <p:cNvPr id="5" name="">
            <a:extLst xmlns:a="http://schemas.openxmlformats.org/drawingml/2006/main">
              <a:ext uri="{FF2B5EF4-FFF2-40B4-BE49-F238E27FC236}">
                <a16:creationId xmlns:a16="http://schemas.microsoft.com/office/drawing/2014/main" id="{05667152-81C5-4A5E-91FF-DE9B39238317}"/>
              </a:ext>
            </a:extLst>
          </p:cNvPr>
          <p:cNvSpPr>
            <a:spLocks xmlns:a="http://schemas.openxmlformats.org/drawingml/2006/main" noGrp="1"/>
          </p:cNvSpPr>
          <p:nvPr/>
        </p:nvSpPr>
        <p:spPr>
          <a:xfrm xmlns:a="http://schemas.openxmlformats.org/drawingml/2006/main">
            <a:off x="685800" y="373380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202A28"/>
                </a:solidFill>
                <a:latin typeface="Helvetica Neue"/>
                <a:ea typeface="Helvetica Neue"/>
                <a:cs typeface="Helvetica Neue"/>
              </a:defRPr>
            </a:pPr>
            <a:r>
              <a:rPr sz="2700" b="0">
                <a:solidFill>
                  <a:srgbClr val="202A28"/>
                </a:solidFill>
                <a:latin typeface="Helvetica Neue"/>
                <a:ea typeface="Helvetica Neue"/>
                <a:cs typeface="Helvetica Neue"/>
              </a:rPr>
              <a:t>Campaign reveals occasionally</a:t>
            </a:r>
          </a:p>
        </p:txBody>
      </p:sp>
      <p:sp>
        <p:nvSpPr>
          <p:cNvPr id="6" name="">
            <a:extLst xmlns:a="http://schemas.openxmlformats.org/drawingml/2006/main">
              <a:ext uri="{FF2B5EF4-FFF2-40B4-BE49-F238E27FC236}">
                <a16:creationId xmlns:a16="http://schemas.microsoft.com/office/drawing/2014/main" id="{3C959EFC-D8BF-4DE3-AA0A-38F6E71E26CE}"/>
              </a:ext>
            </a:extLst>
          </p:cNvPr>
          <p:cNvSpPr>
            <a:spLocks xmlns:a="http://schemas.openxmlformats.org/drawingml/2006/main" noGrp="1"/>
          </p:cNvSpPr>
          <p:nvPr/>
        </p:nvSpPr>
        <p:spPr>
          <a:xfrm xmlns:a="http://schemas.openxmlformats.org/drawingml/2006/main">
            <a:off x="685800" y="52387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E6C63"/>
                </a:solidFill>
                <a:latin typeface="Helvetica Neue"/>
                <a:ea typeface="Helvetica Neue"/>
                <a:cs typeface="Helvetica Neue"/>
              </a:defRPr>
            </a:pPr>
            <a:r>
              <a:rPr sz="1500" b="0">
                <a:solidFill>
                  <a:srgbClr val="5E6C63"/>
                </a:solidFill>
                <a:latin typeface="Helvetica Neue"/>
                <a:ea typeface="Helvetica Neue"/>
                <a:cs typeface="Helvetica Neue"/>
              </a:rPr>
              <a:t>Proposed profile. No live audience response measured.</a:t>
            </a:r>
          </a:p>
        </p:txBody>
      </p:sp>
      <p:sp>
        <p:nvSpPr>
          <p:cNvPr id="7" name="">
            <a:extLst xmlns:a="http://schemas.openxmlformats.org/drawingml/2006/main">
              <a:ext uri="{FF2B5EF4-FFF2-40B4-BE49-F238E27FC236}">
                <a16:creationId xmlns:a16="http://schemas.microsoft.com/office/drawing/2014/main" id="{F61D5902-2B4E-492D-94AE-85062990663A}"/>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16  /  APPENDIX</a:t>
            </a:r>
          </a:p>
        </p:txBody>
      </p:sp>
    </p:spTree>
    <p:extLst>
      <p:ext uri="{BB962C8B-B14F-4D97-AF65-F5344CB8AC3E}">
        <p14:creationId xmlns:p14="http://schemas.microsoft.com/office/powerpoint/2010/main" val="1168002378"/>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B3C4B4-C1CC-4BAD-9232-5DF5CE0CD475}"/>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A proposed editorial collaboration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2a2c9ab6102421e"/>
          <a:stretch xmlns:a="http://schemas.openxmlformats.org/drawingml/2006/main"/>
        </p:blipFill>
        <p:spPr>
          <a:xfrm xmlns:a="http://schemas.openxmlformats.org/drawingml/2006/main">
            <a:off x="2624138" y="1257300"/>
            <a:ext cx="6943725" cy="4629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78818A-15AA-4F03-97BA-582A22F9C8EC}"/>
              </a:ext>
            </a:extLst>
          </p:cNvPr>
          <p:cNvSpPr>
            <a:spLocks xmlns:a="http://schemas.openxmlformats.org/drawingml/2006/main" noGrp="1"/>
          </p:cNvSpPr>
          <p:nvPr/>
        </p:nvSpPr>
        <p:spPr>
          <a:xfrm xmlns:a="http://schemas.openxmlformats.org/drawingml/2006/main">
            <a:off x="685800" y="60579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E6C63"/>
                </a:solidFill>
                <a:latin typeface="Helvetica Neue"/>
                <a:ea typeface="Helvetica Neue"/>
                <a:cs typeface="Helvetica Neue"/>
              </a:defRPr>
            </a:pPr>
            <a:r>
              <a:rPr sz="1500" b="0">
                <a:solidFill>
                  <a:srgbClr val="5E6C63"/>
                </a:solidFill>
                <a:latin typeface="Helvetica Neue"/>
                <a:ea typeface="Helvetica Neue"/>
                <a:cs typeface="Helvetica Neue"/>
              </a:rPr>
              <a:t>Vogue Living concept. No announced partnership or published coverage.</a:t>
            </a:r>
          </a:p>
        </p:txBody>
      </p:sp>
      <p:sp>
        <p:nvSpPr>
          <p:cNvPr id="4" name="">
            <a:extLst xmlns:a="http://schemas.openxmlformats.org/drawingml/2006/main">
              <a:ext uri="{FF2B5EF4-FFF2-40B4-BE49-F238E27FC236}">
                <a16:creationId xmlns:a16="http://schemas.microsoft.com/office/drawing/2014/main" id="{980F281D-F9D6-4307-87A9-116F7DB5AA9A}"/>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17  /  APPENDIX</a:t>
            </a:r>
          </a:p>
        </p:txBody>
      </p:sp>
    </p:spTree>
    <p:extLst>
      <p:ext uri="{BB962C8B-B14F-4D97-AF65-F5344CB8AC3E}">
        <p14:creationId xmlns:p14="http://schemas.microsoft.com/office/powerpoint/2010/main" val="2096753032"/>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382B5E-C2A5-4A97-A72A-AC109443009A}"/>
              </a:ext>
            </a:extLst>
          </p:cNvPr>
          <p:cNvSpPr>
            <a:spLocks xmlns:a="http://schemas.openxmlformats.org/drawingml/2006/main" noGrp="1"/>
          </p:cNvSpPr>
          <p:nvPr/>
        </p:nvSpPr>
        <p:spPr>
          <a:xfrm xmlns:a="http://schemas.openxmlformats.org/drawingml/2006/main">
            <a:off x="628650" y="457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A28"/>
                </a:solidFill>
                <a:latin typeface="Helvetica Neue"/>
                <a:ea typeface="Helvetica Neue"/>
                <a:cs typeface="Helvetica Neue"/>
              </a:defRPr>
            </a:pPr>
            <a:r>
              <a:rPr sz="3300" b="1">
                <a:solidFill>
                  <a:srgbClr val="202A28"/>
                </a:solidFill>
                <a:latin typeface="Helvetica Neue"/>
                <a:ea typeface="Helvetica Neue"/>
                <a:cs typeface="Helvetica Neue"/>
              </a:rPr>
              <a:t>Readings behind the workflow</a:t>
            </a:r>
          </a:p>
        </p:txBody>
      </p:sp>
      <p:sp>
        <p:nvSpPr>
          <p:cNvPr id="2" name="">
            <a:extLst xmlns:a="http://schemas.openxmlformats.org/drawingml/2006/main">
              <a:ext uri="{FF2B5EF4-FFF2-40B4-BE49-F238E27FC236}">
                <a16:creationId xmlns:a16="http://schemas.microsoft.com/office/drawing/2014/main" id="{06CE9ED5-F589-40E9-8E48-B85B0920F7F0}"/>
              </a:ext>
            </a:extLst>
          </p:cNvPr>
          <p:cNvSpPr>
            <a:spLocks xmlns:a="http://schemas.openxmlformats.org/drawingml/2006/main" noGrp="1"/>
          </p:cNvSpPr>
          <p:nvPr/>
        </p:nvSpPr>
        <p:spPr>
          <a:xfrm xmlns:a="http://schemas.openxmlformats.org/drawingml/2006/main">
            <a:off x="685800" y="1552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2A28"/>
                </a:solidFill>
                <a:latin typeface="Helvetica Neue"/>
                <a:ea typeface="Helvetica Neue"/>
                <a:cs typeface="Helvetica Neue"/>
              </a:defRPr>
            </a:pPr>
            <a:r>
              <a:rPr sz="2025" b="1">
                <a:solidFill>
                  <a:srgbClr val="202A28"/>
                </a:solidFill>
                <a:latin typeface="Helvetica Neue"/>
                <a:ea typeface="Helvetica Neue"/>
                <a:cs typeface="Helvetica Neue"/>
              </a:rPr>
              <a:t>OpenAI Academy: ChatGPT for marketing teams; Using skills</a:t>
            </a:r>
          </a:p>
        </p:txBody>
      </p:sp>
      <p:sp>
        <p:nvSpPr>
          <p:cNvPr id="3" name="">
            <a:extLst xmlns:a="http://schemas.openxmlformats.org/drawingml/2006/main">
              <a:ext uri="{FF2B5EF4-FFF2-40B4-BE49-F238E27FC236}">
                <a16:creationId xmlns:a16="http://schemas.microsoft.com/office/drawing/2014/main" id="{2D9B8FF3-92F7-44DF-8FC1-C52BC88F86A5}"/>
              </a:ext>
            </a:extLst>
          </p:cNvPr>
          <p:cNvSpPr>
            <a:spLocks xmlns:a="http://schemas.openxmlformats.org/drawingml/2006/main" noGrp="1"/>
          </p:cNvSpPr>
          <p:nvPr/>
        </p:nvSpPr>
        <p:spPr>
          <a:xfrm xmlns:a="http://schemas.openxmlformats.org/drawingml/2006/main">
            <a:off x="685800" y="23336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A28"/>
                </a:solidFill>
                <a:latin typeface="Helvetica Neue"/>
                <a:ea typeface="Helvetica Neue"/>
                <a:cs typeface="Helvetica Neue"/>
              </a:defRPr>
            </a:pPr>
            <a:r>
              <a:rPr sz="2025" b="0">
                <a:solidFill>
                  <a:srgbClr val="202A28"/>
                </a:solidFill>
                <a:latin typeface="Helvetica Neue"/>
                <a:ea typeface="Helvetica Neue"/>
                <a:cs typeface="Helvetica Neue"/>
              </a:rPr>
              <a:t>Boussioux et al.: The Hidden Cost of AI-Assisted Creativity</a:t>
            </a:r>
          </a:p>
        </p:txBody>
      </p:sp>
      <p:sp>
        <p:nvSpPr>
          <p:cNvPr id="4" name="">
            <a:extLst xmlns:a="http://schemas.openxmlformats.org/drawingml/2006/main">
              <a:ext uri="{FF2B5EF4-FFF2-40B4-BE49-F238E27FC236}">
                <a16:creationId xmlns:a16="http://schemas.microsoft.com/office/drawing/2014/main" id="{8A0C4D61-35E4-4866-BB66-2178261D9E71}"/>
              </a:ext>
            </a:extLst>
          </p:cNvPr>
          <p:cNvSpPr>
            <a:spLocks xmlns:a="http://schemas.openxmlformats.org/drawingml/2006/main" noGrp="1"/>
          </p:cNvSpPr>
          <p:nvPr/>
        </p:nvSpPr>
        <p:spPr>
          <a:xfrm xmlns:a="http://schemas.openxmlformats.org/drawingml/2006/main">
            <a:off x="685800" y="31146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A28"/>
                </a:solidFill>
                <a:latin typeface="Helvetica Neue"/>
                <a:ea typeface="Helvetica Neue"/>
                <a:cs typeface="Helvetica Neue"/>
              </a:defRPr>
            </a:pPr>
            <a:r>
              <a:rPr sz="2025" b="0">
                <a:solidFill>
                  <a:srgbClr val="202A28"/>
                </a:solidFill>
                <a:latin typeface="Helvetica Neue"/>
                <a:ea typeface="Helvetica Neue"/>
                <a:cs typeface="Helvetica Neue"/>
              </a:rPr>
              <a:t>Anthropic: Building Effective AI Agents</a:t>
            </a:r>
          </a:p>
        </p:txBody>
      </p:sp>
      <p:sp>
        <p:nvSpPr>
          <p:cNvPr id="5" name="">
            <a:extLst xmlns:a="http://schemas.openxmlformats.org/drawingml/2006/main">
              <a:ext uri="{FF2B5EF4-FFF2-40B4-BE49-F238E27FC236}">
                <a16:creationId xmlns:a16="http://schemas.microsoft.com/office/drawing/2014/main" id="{12E0D2B0-66ED-430B-9822-5056DEBBBA50}"/>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A28"/>
                </a:solidFill>
                <a:latin typeface="Helvetica Neue"/>
                <a:ea typeface="Helvetica Neue"/>
                <a:cs typeface="Helvetica Neue"/>
              </a:defRPr>
            </a:pPr>
            <a:r>
              <a:rPr sz="2025" b="0">
                <a:solidFill>
                  <a:srgbClr val="202A28"/>
                </a:solidFill>
                <a:latin typeface="Helvetica Neue"/>
                <a:ea typeface="Helvetica Neue"/>
                <a:cs typeface="Helvetica Neue"/>
              </a:rPr>
              <a:t>OpenAI: Build skills; guardrails; workflow evaluation</a:t>
            </a:r>
          </a:p>
        </p:txBody>
      </p:sp>
      <p:sp>
        <p:nvSpPr>
          <p:cNvPr id="6" name="">
            <a:extLst xmlns:a="http://schemas.openxmlformats.org/drawingml/2006/main">
              <a:ext uri="{FF2B5EF4-FFF2-40B4-BE49-F238E27FC236}">
                <a16:creationId xmlns:a16="http://schemas.microsoft.com/office/drawing/2014/main" id="{5C15077B-8CD3-4F8A-9D40-F9EB620687EF}"/>
              </a:ext>
            </a:extLst>
          </p:cNvPr>
          <p:cNvSpPr>
            <a:spLocks xmlns:a="http://schemas.openxmlformats.org/drawingml/2006/main" noGrp="1"/>
          </p:cNvSpPr>
          <p:nvPr/>
        </p:nvSpPr>
        <p:spPr>
          <a:xfrm xmlns:a="http://schemas.openxmlformats.org/drawingml/2006/main">
            <a:off x="685800" y="46767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A28"/>
                </a:solidFill>
                <a:latin typeface="Helvetica Neue"/>
                <a:ea typeface="Helvetica Neue"/>
                <a:cs typeface="Helvetica Neue"/>
              </a:defRPr>
            </a:pPr>
            <a:r>
              <a:rPr sz="2025" b="0">
                <a:solidFill>
                  <a:srgbClr val="202A28"/>
                </a:solidFill>
                <a:latin typeface="Helvetica Neue"/>
                <a:ea typeface="Helvetica Neue"/>
                <a:cs typeface="Helvetica Neue"/>
              </a:rPr>
              <a:t>Google: Modern Measurement Playbook</a:t>
            </a:r>
          </a:p>
        </p:txBody>
      </p:sp>
      <p:sp>
        <p:nvSpPr>
          <p:cNvPr id="7" name="">
            <a:extLst xmlns:a="http://schemas.openxmlformats.org/drawingml/2006/main">
              <a:ext uri="{FF2B5EF4-FFF2-40B4-BE49-F238E27FC236}">
                <a16:creationId xmlns:a16="http://schemas.microsoft.com/office/drawing/2014/main" id="{132B57A6-F096-460E-9FF3-E69A18B84EFE}"/>
              </a:ext>
            </a:extLst>
          </p:cNvPr>
          <p:cNvSpPr>
            <a:spLocks xmlns:a="http://schemas.openxmlformats.org/drawingml/2006/main" noGrp="1"/>
          </p:cNvSpPr>
          <p:nvPr/>
        </p:nvSpPr>
        <p:spPr>
          <a:xfrm xmlns:a="http://schemas.openxmlformats.org/drawingml/2006/main">
            <a:off x="685800" y="5762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C63"/>
                </a:solidFill>
                <a:latin typeface="Helvetica Neue"/>
                <a:ea typeface="Helvetica Neue"/>
                <a:cs typeface="Helvetica Neue"/>
              </a:defRPr>
            </a:pPr>
            <a:r>
              <a:rPr sz="1425" b="0">
                <a:solidFill>
                  <a:srgbClr val="5E6C63"/>
                </a:solidFill>
                <a:latin typeface="Helvetica Neue"/>
                <a:ea typeface="Helvetica Neue"/>
                <a:cs typeface="Helvetica Neue"/>
              </a:rPr>
              <a:t>Full links, quotation locations, and source limits in sources.md</a:t>
            </a:r>
          </a:p>
        </p:txBody>
      </p:sp>
      <p:sp>
        <p:nvSpPr>
          <p:cNvPr id="8" name="">
            <a:extLst xmlns:a="http://schemas.openxmlformats.org/drawingml/2006/main">
              <a:ext uri="{FF2B5EF4-FFF2-40B4-BE49-F238E27FC236}">
                <a16:creationId xmlns:a16="http://schemas.microsoft.com/office/drawing/2014/main" id="{9C930F38-144D-479F-9FFD-5CD92F6A89D6}"/>
              </a:ext>
            </a:extLst>
          </p:cNvPr>
          <p:cNvSpPr>
            <a:spLocks xmlns:a="http://schemas.openxmlformats.org/drawingml/2006/main" noGrp="1"/>
          </p:cNvSpPr>
          <p:nvPr/>
        </p:nvSpPr>
        <p:spPr>
          <a:xfrm xmlns:a="http://schemas.openxmlformats.org/drawingml/2006/main">
            <a:off x="10668000" y="655320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6C63"/>
                </a:solidFill>
                <a:latin typeface="Helvetica Neue"/>
                <a:ea typeface="Helvetica Neue"/>
                <a:cs typeface="Helvetica Neue"/>
              </a:defRPr>
            </a:pPr>
            <a:r>
              <a:rPr sz="900" b="0">
                <a:solidFill>
                  <a:srgbClr val="5E6C63"/>
                </a:solidFill>
                <a:latin typeface="Helvetica Neue"/>
                <a:ea typeface="Helvetica Neue"/>
                <a:cs typeface="Helvetica Neue"/>
              </a:rPr>
              <a:t>18  /  APPENDIX</a:t>
            </a:r>
          </a:p>
        </p:txBody>
      </p:sp>
    </p:spTree>
    <p:extLst>
      <p:ext uri="{BB962C8B-B14F-4D97-AF65-F5344CB8AC3E}">
        <p14:creationId xmlns:p14="http://schemas.microsoft.com/office/powerpoint/2010/main" val="1833897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2026-09-29T03:24:51.3380000Z</dcterms:created>
  <dcterms:modified xsi:type="dcterms:W3CDTF">2026-09-29T03:24:51.3380000Z</dcterms:modified>
</coreProperties>
</file>